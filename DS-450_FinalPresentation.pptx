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8" r:id="rId7"/>
    <p:sldId id="280" r:id="rId8"/>
    <p:sldId id="261" r:id="rId9"/>
    <p:sldId id="282" r:id="rId10"/>
    <p:sldId id="262" r:id="rId11"/>
    <p:sldId id="263" r:id="rId12"/>
    <p:sldId id="264" r:id="rId13"/>
    <p:sldId id="283" r:id="rId14"/>
    <p:sldId id="265" r:id="rId15"/>
    <p:sldId id="266" r:id="rId16"/>
    <p:sldId id="267" r:id="rId17"/>
    <p:sldId id="284" r:id="rId18"/>
    <p:sldId id="269" r:id="rId19"/>
    <p:sldId id="285" r:id="rId20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3F768-F2AE-E85E-5DCE-12EE93D44538}" v="4245" dt="2026-04-28T02:19:11.577"/>
    <p1510:client id="{C6734C39-036C-655D-32DC-0CCDCF326D81}" v="57" dt="2026-04-28T03:02:15.0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400">
                <a:solidFill>
                  <a:srgbClr val="FFFFFF"/>
                </a:solidFill>
              </a:rPr>
              <a:t>Data Science Capstone:</a:t>
            </a:r>
            <a:br>
              <a:rPr lang="en-US" sz="7400">
                <a:solidFill>
                  <a:srgbClr val="FFFFFF"/>
                </a:solidFill>
              </a:rPr>
            </a:br>
            <a:r>
              <a:rPr lang="en-US" sz="7400">
                <a:solidFill>
                  <a:srgbClr val="FFFFFF"/>
                </a:solidFill>
              </a:rPr>
              <a:t>Let's Go Krogering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Nikola </a:t>
            </a:r>
            <a:r>
              <a:rPr lang="en-US" sz="2000" dirty="0" err="1">
                <a:solidFill>
                  <a:srgbClr val="FFFFFF"/>
                </a:solidFill>
              </a:rPr>
              <a:t>Mrdak</a:t>
            </a:r>
          </a:p>
          <a:p>
            <a:pPr algn="l"/>
            <a:r>
              <a:rPr lang="en-US" sz="2000">
                <a:solidFill>
                  <a:srgbClr val="FFFFFF"/>
                </a:solidFill>
              </a:rPr>
              <a:t>DS-450-01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6C278-B840-42C9-FB43-BBF0D38BE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7400">
                <a:solidFill>
                  <a:srgbClr val="FFFFFF"/>
                </a:solidFill>
              </a:rPr>
              <a:t>Roadmap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71E08-BD08-50ED-172D-942C5B11A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>
                    <a:alpha val="80000"/>
                  </a:schemeClr>
                </a:solidFill>
              </a:rPr>
              <a:t>Lay the Foundation</a:t>
            </a:r>
          </a:p>
          <a:p>
            <a:r>
              <a:rPr lang="en-US">
                <a:solidFill>
                  <a:schemeClr val="tx1">
                    <a:alpha val="80000"/>
                  </a:schemeClr>
                </a:solidFill>
              </a:rPr>
              <a:t>Materials and Methodology</a:t>
            </a:r>
          </a:p>
          <a:p>
            <a:r>
              <a:rPr lang="en-US">
                <a:solidFill>
                  <a:schemeClr val="tx1">
                    <a:alpha val="80000"/>
                  </a:schemeClr>
                </a:solidFill>
              </a:rPr>
              <a:t>Three Models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chemeClr val="tx1">
                    <a:alpha val="80000"/>
                  </a:schemeClr>
                </a:solidFill>
              </a:rPr>
              <a:t>Results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chemeClr val="tx1">
                    <a:alpha val="80000"/>
                  </a:schemeClr>
                </a:solidFill>
              </a:rPr>
              <a:t>Analysis</a:t>
            </a:r>
          </a:p>
          <a:p>
            <a:r>
              <a:rPr lang="en-US">
                <a:solidFill>
                  <a:schemeClr val="tx1">
                    <a:alpha val="80000"/>
                  </a:schemeClr>
                </a:solidFill>
              </a:rPr>
              <a:t>Wrap Up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17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8BD50-FEDF-9C27-C7CA-2FF726F77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685DB-8D45-8701-D585-0B7AEEC8A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874" y="1294777"/>
            <a:ext cx="4771607" cy="50184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>
                    <a:alpha val="80000"/>
                  </a:schemeClr>
                </a:solidFill>
              </a:rPr>
              <a:t>The Kroger Company: Founded in 1883 and is the largest supermarket grocer in the United States.</a:t>
            </a:r>
          </a:p>
          <a:p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>
                <a:solidFill>
                  <a:schemeClr val="tx1">
                    <a:alpha val="80000"/>
                  </a:schemeClr>
                </a:solidFill>
              </a:rPr>
              <a:t>Operates in 35 states + DC</a:t>
            </a:r>
          </a:p>
          <a:p>
            <a:endParaRPr lang="en-US" dirty="0">
              <a:solidFill>
                <a:schemeClr val="tx1">
                  <a:alpha val="80000"/>
                </a:schemeClr>
              </a:solidFill>
              <a:latin typeface="Aptos" panose="020B0004020202020204"/>
            </a:endParaRPr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  <a:latin typeface="Aptos" panose="020B0004020202020204"/>
              </a:rPr>
              <a:t>For businesses like Kroger, it is critical to optimize resource utilization to maximize routine efficiency. 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883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34895-FDBB-F2D5-ADF0-B682B750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Motivation 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EAD3-7E66-C7BB-8F43-A9965D0E4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As a trained Kroger professional, I sought to blend my Kroger wisdom with my academic skill set.</a:t>
            </a:r>
          </a:p>
          <a:p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u="sng">
                <a:solidFill>
                  <a:schemeClr val="tx1">
                    <a:alpha val="80000"/>
                  </a:schemeClr>
                </a:solidFill>
              </a:rPr>
              <a:t>Objective:</a:t>
            </a:r>
            <a:r>
              <a:rPr lang="en-US">
                <a:solidFill>
                  <a:schemeClr val="tx1">
                    <a:alpha val="80000"/>
                  </a:schemeClr>
                </a:solidFill>
              </a:rPr>
              <a:t> To create predictive models that help better understand the relationships between grocery store departments and labor. 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822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73BFC-8E8C-0069-A2AF-8975EB16D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Materials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9C564-0486-0C51-4FEE-52EED35C0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>
                    <a:alpha val="80000"/>
                  </a:schemeClr>
                </a:solidFill>
              </a:rPr>
              <a:t>Excel</a:t>
            </a:r>
          </a:p>
          <a:p>
            <a:r>
              <a:rPr lang="en-US">
                <a:solidFill>
                  <a:schemeClr val="tx1">
                    <a:alpha val="80000"/>
                  </a:schemeClr>
                </a:solidFill>
              </a:rPr>
              <a:t>Python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chemeClr val="tx1">
                    <a:alpha val="80000"/>
                  </a:schemeClr>
                </a:solidFill>
              </a:rPr>
              <a:t>Math and Modeling Libraries</a:t>
            </a:r>
          </a:p>
          <a:p>
            <a:r>
              <a:rPr lang="en-US">
                <a:solidFill>
                  <a:schemeClr val="tx1">
                    <a:alpha val="80000"/>
                  </a:schemeClr>
                </a:solidFill>
              </a:rPr>
              <a:t>Data Source: One Kroger Grocery Store in Louisville, KY.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solidFill>
                  <a:schemeClr val="tx1">
                    <a:alpha val="80000"/>
                  </a:schemeClr>
                </a:solidFill>
              </a:rPr>
              <a:t>From years (2023-25)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926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285E5-C25C-50CC-8CE6-A614240FD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714" y="501651"/>
            <a:ext cx="4409717" cy="939878"/>
          </a:xfrm>
        </p:spPr>
        <p:txBody>
          <a:bodyPr anchor="b">
            <a:normAutofit/>
          </a:bodyPr>
          <a:lstStyle/>
          <a:p>
            <a:r>
              <a:rPr lang="en-US" sz="5600"/>
              <a:t>E.D.A.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white page&#10;&#10;AI-generated content may be incorrect.">
            <a:extLst>
              <a:ext uri="{FF2B5EF4-FFF2-40B4-BE49-F238E27FC236}">
                <a16:creationId xmlns:a16="http://schemas.microsoft.com/office/drawing/2014/main" id="{4EF676E1-5AC2-4A23-6FF5-F23AF477F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89" y="875013"/>
            <a:ext cx="5279134" cy="51079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76B36-C09F-1CC3-14A7-B4A8E350A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1725772"/>
            <a:ext cx="4434721" cy="46305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Time series data with the following variables for each respective department: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Snapshot: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Dtypes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 – float64 and int64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Full data is 159 rows by 353 columns.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Slimmed down to 156 rows and 309 columns.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Each observation is a week 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  ( 2023 Week1, Week2, </a:t>
            </a:r>
            <a:r>
              <a:rPr lang="en-US" sz="2000" dirty="0" err="1">
                <a:solidFill>
                  <a:schemeClr val="tx1">
                    <a:alpha val="80000"/>
                  </a:schemeClr>
                </a:solidFill>
              </a:rPr>
              <a:t>etc</a:t>
            </a: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)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Separated 'Date' into three new columns – week, month, and year.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 descr="Line arrow: Slight curve with solid fill">
            <a:extLst>
              <a:ext uri="{FF2B5EF4-FFF2-40B4-BE49-F238E27FC236}">
                <a16:creationId xmlns:a16="http://schemas.microsoft.com/office/drawing/2014/main" id="{DD52F35E-0CF5-09DE-B4C2-70C48CE0C6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782574" y="1893497"/>
            <a:ext cx="799380" cy="52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83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aph of sales&#10;&#10;AI-generated content may be incorrect.">
            <a:extLst>
              <a:ext uri="{FF2B5EF4-FFF2-40B4-BE49-F238E27FC236}">
                <a16:creationId xmlns:a16="http://schemas.microsoft.com/office/drawing/2014/main" id="{2EB3BA42-CD09-09B6-DCF5-D0FA20F1C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085464"/>
            <a:ext cx="5294716" cy="268706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pie chart with numbers and text&#10;&#10;AI-generated content may be incorrect.">
            <a:extLst>
              <a:ext uri="{FF2B5EF4-FFF2-40B4-BE49-F238E27FC236}">
                <a16:creationId xmlns:a16="http://schemas.microsoft.com/office/drawing/2014/main" id="{6F820D2B-87F6-E39C-245A-51475FF93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661889"/>
            <a:ext cx="5294715" cy="353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20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432EEC-DB62-50D4-A162-CEE416BD9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The Method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AC2AB-54D0-E38E-5CF2-B96B334FB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 u="sng">
                <a:solidFill>
                  <a:schemeClr val="tx1">
                    <a:alpha val="80000"/>
                  </a:schemeClr>
                </a:solidFill>
              </a:rPr>
              <a:t>Three models utilized:</a:t>
            </a: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Random Forest Regression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Can I predict total hours in a week; with and without labor forecast?</a:t>
            </a: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Gradient Boosting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What features are significant in causing error in the forecast?</a:t>
            </a:r>
          </a:p>
          <a:p>
            <a:r>
              <a:rPr lang="en-US" sz="2400" err="1">
                <a:solidFill>
                  <a:schemeClr val="tx1">
                    <a:alpha val="80000"/>
                  </a:schemeClr>
                </a:solidFill>
              </a:rPr>
              <a:t>AdaBoosti</a:t>
            </a: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Classification: Will the forecast schedule sufficiently or understaff?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248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CA7C9D-CF28-EBCD-929C-26471FF66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One </a:t>
            </a:r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089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809E6A-4AB3-554C-61F0-C91100C2B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Model 1: Predicting Total Store Hours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DE637-1A1F-281C-25DE-B7E2E9C7A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Using Random Forest Regression to predict total store hours given department specific variables.</a:t>
            </a: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With and without forecasted fixed and variable hours.</a:t>
            </a: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The aim is to find any performance differences when the model has access to the forecast. 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334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3C84D-4337-07FB-546C-B5E447906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29" y="475829"/>
            <a:ext cx="3041803" cy="10099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Results</a:t>
            </a:r>
          </a:p>
        </p:txBody>
      </p:sp>
      <p:pic>
        <p:nvPicPr>
          <p:cNvPr id="5" name="Picture 4" descr="A graph of a number of green bars&#10;&#10;AI-generated content may be incorrect.">
            <a:extLst>
              <a:ext uri="{FF2B5EF4-FFF2-40B4-BE49-F238E27FC236}">
                <a16:creationId xmlns:a16="http://schemas.microsoft.com/office/drawing/2014/main" id="{BAA5C1F3-1D12-2A94-E6DA-A20215E3C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470" y="3006408"/>
            <a:ext cx="6119275" cy="34885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CE9DDC-285D-DB5B-F6FA-4412842F0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326" y="3003610"/>
            <a:ext cx="6050589" cy="3477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9FEBDD5F-6F03-EF08-CA2F-3B16A9DE6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730" y="496018"/>
            <a:ext cx="4048515" cy="19673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33DBF7-9F58-0E95-C605-EA7BD2588DF0}"/>
              </a:ext>
            </a:extLst>
          </p:cNvPr>
          <p:cNvSpPr txBox="1"/>
          <p:nvPr/>
        </p:nvSpPr>
        <p:spPr>
          <a:xfrm>
            <a:off x="360217" y="3255818"/>
            <a:ext cx="10529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Grocery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3F267A-6592-AC7A-DD54-AB06DA1E1FC9}"/>
              </a:ext>
            </a:extLst>
          </p:cNvPr>
          <p:cNvSpPr txBox="1"/>
          <p:nvPr/>
        </p:nvSpPr>
        <p:spPr>
          <a:xfrm>
            <a:off x="360217" y="3726872"/>
            <a:ext cx="10529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Bakery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7C76F-94C5-7337-5065-4F7E74FAF296}"/>
              </a:ext>
            </a:extLst>
          </p:cNvPr>
          <p:cNvSpPr txBox="1"/>
          <p:nvPr/>
        </p:nvSpPr>
        <p:spPr>
          <a:xfrm>
            <a:off x="360216" y="4876799"/>
            <a:ext cx="10529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Floral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2DB74E-4F14-4FA2-50E6-378AC1CCF4BA}"/>
              </a:ext>
            </a:extLst>
          </p:cNvPr>
          <p:cNvSpPr txBox="1"/>
          <p:nvPr/>
        </p:nvSpPr>
        <p:spPr>
          <a:xfrm>
            <a:off x="6539344" y="3241963"/>
            <a:ext cx="10529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Bakery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75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aph with a red line and blue dots&#10;&#10;AI-generated content may be incorrect.">
            <a:extLst>
              <a:ext uri="{FF2B5EF4-FFF2-40B4-BE49-F238E27FC236}">
                <a16:creationId xmlns:a16="http://schemas.microsoft.com/office/drawing/2014/main" id="{36A9D4CD-8A5D-FBCE-4428-AF8BBF4A8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1392566"/>
            <a:ext cx="5221625" cy="40728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5B848-6C2E-AFB6-BB2B-DDBED9416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2509" y="1438225"/>
            <a:ext cx="4880418" cy="435740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The first model infers </a:t>
            </a: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plann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ed labor drives total hours. Depends on the preexisting labor planning. 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Model two shows productivity determines hours. Relies on department sales, even those that contribute less sales volume.</a:t>
            </a:r>
          </a:p>
          <a:p>
            <a:r>
              <a:rPr lang="en-US" sz="2400" u="sng" dirty="0">
                <a:solidFill>
                  <a:schemeClr val="tx1">
                    <a:alpha val="80000"/>
                  </a:schemeClr>
                </a:solidFill>
              </a:rPr>
              <a:t>Takeaway: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Model uses the forecasted hours as a shortcut to sales. Sales determine total store hours. </a:t>
            </a: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EA4AB08-0731-54E6-C54E-1DC538DB2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639" y="257236"/>
            <a:ext cx="2670057" cy="810482"/>
          </a:xfrm>
        </p:spPr>
        <p:txBody>
          <a:bodyPr anchor="b">
            <a:normAutofit fontScale="90000"/>
          </a:bodyPr>
          <a:lstStyle/>
          <a:p>
            <a:r>
              <a:rPr lang="en-US" sz="560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022000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60410-0969-011D-58E6-B11B4A6BF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Two</a:t>
            </a:r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571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54D3E-25A6-5F2B-ECB8-0FB8B927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Model 2: Finding the Source of Forecast Error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B2923-9085-91D9-2DEB-5275D09B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Using Gradient Boosting to find what features are significant in causing forecast inaccuracies. </a:t>
            </a: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Created two new variables: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Forecast Total Hours – The sum of fixed and variable forecasted hours.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Forecast Error – Actual Hours  minus Forecast Total Hours.</a:t>
            </a: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If Forecast Error: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 Positive == </a:t>
            </a: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understaffing 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 Negative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== overstaffing</a:t>
            </a:r>
            <a:endParaRPr lang="en-US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Using just department sales and sales per labor hour. 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868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0F21-34DB-1B2A-117D-E52A9B15F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-308156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19043-4615-5361-E949-EDAFA7447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1713966"/>
            <a:ext cx="3053255" cy="51299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R2: 0.42</a:t>
            </a:r>
          </a:p>
          <a:p>
            <a:r>
              <a:rPr lang="en-US" sz="2400"/>
              <a:t>MAE: 119.50</a:t>
            </a:r>
          </a:p>
          <a:p>
            <a:r>
              <a:rPr lang="en-US" sz="2400"/>
              <a:t>RMSE: 163.68</a:t>
            </a:r>
          </a:p>
          <a:p>
            <a:endParaRPr lang="en-US" sz="2400" dirty="0"/>
          </a:p>
        </p:txBody>
      </p:sp>
      <p:pic>
        <p:nvPicPr>
          <p:cNvPr id="5" name="Picture 4" descr="A bar graph with text&#10;&#10;AI-generated content may be incorrect.">
            <a:extLst>
              <a:ext uri="{FF2B5EF4-FFF2-40B4-BE49-F238E27FC236}">
                <a16:creationId xmlns:a16="http://schemas.microsoft.com/office/drawing/2014/main" id="{91E0D837-F341-2240-7424-23E6FB3CC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785" y="2152633"/>
            <a:ext cx="7783949" cy="424419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2583AB8-A25A-D3AE-45C7-751AA23F8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231" y="3096883"/>
            <a:ext cx="3181350" cy="32809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8B36FE-F319-14B7-9B24-A694EEBF2AAD}"/>
              </a:ext>
            </a:extLst>
          </p:cNvPr>
          <p:cNvSpPr txBox="1"/>
          <p:nvPr/>
        </p:nvSpPr>
        <p:spPr>
          <a:xfrm>
            <a:off x="5061613" y="4362875"/>
            <a:ext cx="10529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Bakery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009AD0-BCB7-F8F7-FC62-48F9AE67A760}"/>
              </a:ext>
            </a:extLst>
          </p:cNvPr>
          <p:cNvSpPr txBox="1"/>
          <p:nvPr/>
        </p:nvSpPr>
        <p:spPr>
          <a:xfrm>
            <a:off x="5055862" y="5047237"/>
            <a:ext cx="10529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Grocery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5B55B1-3F2A-276C-41D8-E272B0B69436}"/>
              </a:ext>
            </a:extLst>
          </p:cNvPr>
          <p:cNvSpPr txBox="1"/>
          <p:nvPr/>
        </p:nvSpPr>
        <p:spPr>
          <a:xfrm>
            <a:off x="5050111" y="3043033"/>
            <a:ext cx="10529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Meat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FD6CFE-28A6-4D0E-47B4-C2CEDC904B97}"/>
              </a:ext>
            </a:extLst>
          </p:cNvPr>
          <p:cNvSpPr txBox="1"/>
          <p:nvPr/>
        </p:nvSpPr>
        <p:spPr>
          <a:xfrm>
            <a:off x="5044360" y="2347169"/>
            <a:ext cx="10529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Produce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947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11558F-009C-D87A-48DC-C2DD2CE5A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D21E2-8207-EB4A-FBC7-3B4751D02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32777"/>
            <a:ext cx="5174173" cy="57804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Feature significances show that sales per labor hour are much more important in causing forecast error. </a:t>
            </a: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The top four per labor hour departments: Produce, Meat, Bakery, and Grocery.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All prep and labor intense.</a:t>
            </a: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'Week' is sixth most important feature, indicative of some seasonality influence. </a:t>
            </a:r>
          </a:p>
          <a:p>
            <a:r>
              <a:rPr lang="en-US" sz="2400" u="sng">
                <a:solidFill>
                  <a:schemeClr val="tx1">
                    <a:alpha val="80000"/>
                  </a:schemeClr>
                </a:solidFill>
              </a:rPr>
              <a:t>Takeaway:</a:t>
            </a:r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 Sales do not cause error in the forecast; labor intense departments will if they face trouble getting labor needed to make those sales.</a:t>
            </a: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668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C29325-802C-273F-649E-54EE03EEA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Three</a:t>
            </a:r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059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D7F650-B643-4422-FEED-31B6BAC0E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200">
                <a:solidFill>
                  <a:srgbClr val="FFFFFF"/>
                </a:solidFill>
              </a:rPr>
              <a:t>Model 3: Will this Week be Sufficient or Under Scheduled?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A3173-1EAE-AEE3-63A5-B522B9E30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Using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AdaBoosting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to classify if a week's forecast will under-schedule or not.</a:t>
            </a: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New target variable 'Staffing </a:t>
            </a:r>
            <a:r>
              <a:rPr lang="en-US" sz="2400" dirty="0" err="1">
                <a:solidFill>
                  <a:schemeClr val="tx1">
                    <a:alpha val="80000"/>
                  </a:schemeClr>
                </a:solidFill>
              </a:rPr>
              <a:t>Class'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created with a threshold of 50 hours over the forecast to be considered an understaffed week. </a:t>
            </a:r>
          </a:p>
          <a:p>
            <a:endParaRPr lang="en-US" sz="2400" dirty="0">
              <a:solidFill>
                <a:srgbClr val="000000">
                  <a:alpha val="80000"/>
                </a:srgbClr>
              </a:solidFill>
            </a:endParaRP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The goal: Using the same variables when finding what causes forecast error; can we predict when the forecast will under-schedule?</a:t>
            </a:r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116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9A5DD-D6D8-EBA4-F0E5-BD01349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</a:rPr>
              <a:t>Getting the Result...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BD201-7605-F0D7-479C-05206F753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My Original Plan: Understaffed, Sufficient, and Overstaffed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Only 156 observations proved futile in trying to classify three variables. </a:t>
            </a:r>
          </a:p>
          <a:p>
            <a:pPr marL="457200" lvl="1" indent="0">
              <a:buNone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              =&gt; Simplified to only </a:t>
            </a: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two</a:t>
            </a: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My Original Plan: Run Smoothly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Int32 =&gt; Numerous failed attempts to run the model to find the problem was a single variable's datatype. 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374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B09FC-DF21-53B7-93CB-1AB60F2F2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05" y="1948138"/>
            <a:ext cx="4238806" cy="801692"/>
          </a:xfrm>
        </p:spPr>
        <p:txBody>
          <a:bodyPr anchor="b">
            <a:normAutofit fontScale="90000"/>
          </a:bodyPr>
          <a:lstStyle/>
          <a:p>
            <a:r>
              <a:rPr lang="en-US" sz="5600"/>
              <a:t>Results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5BBA018-FA75-43BF-99E6-1F5245727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753" y="703679"/>
            <a:ext cx="753718" cy="1016562"/>
            <a:chOff x="422753" y="703679"/>
            <a:chExt cx="753718" cy="1016562"/>
          </a:xfrm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956" y="703679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1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2753" y="1562696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1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B673405-BF85-493E-8558-0DCBEDB2B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79610"/>
            <a:ext cx="4831130" cy="4078390"/>
          </a:xfrm>
          <a:custGeom>
            <a:avLst/>
            <a:gdLst>
              <a:gd name="connsiteX0" fmla="*/ 1960035 w 4831130"/>
              <a:gd name="connsiteY0" fmla="*/ 0 h 4078390"/>
              <a:gd name="connsiteX1" fmla="*/ 4831130 w 4831130"/>
              <a:gd name="connsiteY1" fmla="*/ 2871095 h 4078390"/>
              <a:gd name="connsiteX2" fmla="*/ 4605505 w 4831130"/>
              <a:gd name="connsiteY2" fmla="*/ 3988655 h 4078390"/>
              <a:gd name="connsiteX3" fmla="*/ 4562278 w 4831130"/>
              <a:gd name="connsiteY3" fmla="*/ 4078390 h 4078390"/>
              <a:gd name="connsiteX4" fmla="*/ 0 w 4831130"/>
              <a:gd name="connsiteY4" fmla="*/ 4078390 h 4078390"/>
              <a:gd name="connsiteX5" fmla="*/ 0 w 4831130"/>
              <a:gd name="connsiteY5" fmla="*/ 777181 h 4078390"/>
              <a:gd name="connsiteX6" fmla="*/ 133752 w 4831130"/>
              <a:gd name="connsiteY6" fmla="*/ 655619 h 4078390"/>
              <a:gd name="connsiteX7" fmla="*/ 1960035 w 4831130"/>
              <a:gd name="connsiteY7" fmla="*/ 0 h 4078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1130" h="4078390">
                <a:moveTo>
                  <a:pt x="1960035" y="0"/>
                </a:moveTo>
                <a:cubicBezTo>
                  <a:pt x="3545697" y="0"/>
                  <a:pt x="4831130" y="1285433"/>
                  <a:pt x="4831130" y="2871095"/>
                </a:cubicBezTo>
                <a:cubicBezTo>
                  <a:pt x="4831130" y="3267511"/>
                  <a:pt x="4750791" y="3645162"/>
                  <a:pt x="4605505" y="3988655"/>
                </a:cubicBezTo>
                <a:lnTo>
                  <a:pt x="4562278" y="4078390"/>
                </a:lnTo>
                <a:lnTo>
                  <a:pt x="0" y="4078390"/>
                </a:lnTo>
                <a:lnTo>
                  <a:pt x="0" y="777181"/>
                </a:lnTo>
                <a:lnTo>
                  <a:pt x="133752" y="655619"/>
                </a:lnTo>
                <a:cubicBezTo>
                  <a:pt x="630047" y="246040"/>
                  <a:pt x="1266308" y="0"/>
                  <a:pt x="196003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64EAE84-A813-4501-BC71-DBD14BA02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59782" y="1"/>
            <a:ext cx="4195674" cy="3095741"/>
          </a:xfrm>
          <a:custGeom>
            <a:avLst/>
            <a:gdLst>
              <a:gd name="connsiteX0" fmla="*/ 252211 w 4195674"/>
              <a:gd name="connsiteY0" fmla="*/ 0 h 3095741"/>
              <a:gd name="connsiteX1" fmla="*/ 3943464 w 4195674"/>
              <a:gd name="connsiteY1" fmla="*/ 0 h 3095741"/>
              <a:gd name="connsiteX2" fmla="*/ 4030816 w 4195674"/>
              <a:gd name="connsiteY2" fmla="*/ 181331 h 3095741"/>
              <a:gd name="connsiteX3" fmla="*/ 4195674 w 4195674"/>
              <a:gd name="connsiteY3" fmla="*/ 997904 h 3095741"/>
              <a:gd name="connsiteX4" fmla="*/ 2097837 w 4195674"/>
              <a:gd name="connsiteY4" fmla="*/ 3095741 h 3095741"/>
              <a:gd name="connsiteX5" fmla="*/ 0 w 4195674"/>
              <a:gd name="connsiteY5" fmla="*/ 997904 h 3095741"/>
              <a:gd name="connsiteX6" fmla="*/ 164859 w 4195674"/>
              <a:gd name="connsiteY6" fmla="*/ 181331 h 3095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5674" h="3095741">
                <a:moveTo>
                  <a:pt x="252211" y="0"/>
                </a:moveTo>
                <a:lnTo>
                  <a:pt x="3943464" y="0"/>
                </a:lnTo>
                <a:lnTo>
                  <a:pt x="4030816" y="181331"/>
                </a:lnTo>
                <a:cubicBezTo>
                  <a:pt x="4136972" y="432313"/>
                  <a:pt x="4195674" y="708253"/>
                  <a:pt x="4195674" y="997904"/>
                </a:cubicBezTo>
                <a:cubicBezTo>
                  <a:pt x="4195674" y="2156507"/>
                  <a:pt x="3256440" y="3095741"/>
                  <a:pt x="2097837" y="3095741"/>
                </a:cubicBezTo>
                <a:cubicBezTo>
                  <a:pt x="939234" y="3095741"/>
                  <a:pt x="0" y="2156507"/>
                  <a:pt x="0" y="997904"/>
                </a:cubicBezTo>
                <a:cubicBezTo>
                  <a:pt x="0" y="708253"/>
                  <a:pt x="58702" y="432313"/>
                  <a:pt x="164859" y="1813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1DC88948-6D0B-927A-8EFC-1317FFD03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94" y="2785366"/>
            <a:ext cx="5703846" cy="39441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46D4D-9232-47A7-4DC8-883890046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195675" cy="2913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Model was split .33 / .67 train test</a:t>
            </a:r>
          </a:p>
          <a:p>
            <a:r>
              <a:rPr lang="en-US" sz="2400" dirty="0"/>
              <a:t>Roughly balanced classes: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Understaffed = .52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Sufficient = .48</a:t>
            </a:r>
          </a:p>
          <a:p>
            <a:r>
              <a:rPr lang="en-US" sz="2400"/>
              <a:t>Accuracy: .63</a:t>
            </a:r>
          </a:p>
          <a:p>
            <a:endParaRPr lang="en-US" sz="2000"/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963AB3FB-E0A9-A7ED-691D-729E89B5B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017" y="1184741"/>
            <a:ext cx="6963328" cy="15130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682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C23CB-4248-9CDC-E041-912BEDEF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9D689-3F07-1304-8E5B-F1955CB88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63% of understaffed weeks were predictable with this model.</a:t>
            </a:r>
          </a:p>
          <a:p>
            <a:r>
              <a:rPr lang="en-US" sz="2400"/>
              <a:t>Adequately balanced precision and recall show minimal bias towards predicting understaffed or sufficiently staffed. </a:t>
            </a:r>
          </a:p>
          <a:p>
            <a:r>
              <a:rPr lang="en-US" sz="2400"/>
              <a:t>Yes, but: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Precision and recalls under .7 still misses </a:t>
            </a:r>
            <a:r>
              <a:rPr lang="en-US">
                <a:ea typeface="+mn-lt"/>
                <a:cs typeface="+mn-lt"/>
              </a:rPr>
              <a:t>≈ 30 - 40% of true positives / true negatives. </a:t>
            </a:r>
          </a:p>
          <a:p>
            <a:r>
              <a:rPr lang="en-US" sz="2400"/>
              <a:t>Takeaway: Instances of understaffing by the forecast are not random, but predictable by patterns in the data. </a:t>
            </a:r>
          </a:p>
        </p:txBody>
      </p:sp>
    </p:spTree>
    <p:extLst>
      <p:ext uri="{BB962C8B-B14F-4D97-AF65-F5344CB8AC3E}">
        <p14:creationId xmlns:p14="http://schemas.microsoft.com/office/powerpoint/2010/main" val="532077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5A976-6AC6-65CF-5AE0-209C01DDD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440469"/>
            <a:ext cx="3527425" cy="4366936"/>
          </a:xfrm>
        </p:spPr>
        <p:txBody>
          <a:bodyPr anchor="t">
            <a:normAutofit/>
          </a:bodyPr>
          <a:lstStyle/>
          <a:p>
            <a:r>
              <a:rPr lang="en-US" sz="4000">
                <a:latin typeface="Aptos"/>
              </a:rPr>
              <a:t>Models United 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1A4C4A-439F-9EFC-D7AF-5BAA633EC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817" y="1440469"/>
            <a:ext cx="5260975" cy="39600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buAutoNum type="arabicPeriod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Quantity: How many hours will be needed?</a:t>
            </a: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Accuracy: What will cause the forecast to be inaccurate?</a:t>
            </a: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Risk: Will the inaccuracy create understaffing?</a:t>
            </a: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tx1">
                    <a:alpha val="80000"/>
                  </a:schemeClr>
                </a:solidFill>
              </a:rPr>
              <a:t>Labor demand is predictable, forecast mistakes are identifiable, and understaffing risk is preventable. </a:t>
            </a: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sz="240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4298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C20E8-A629-CC75-2BD1-CCB06D78D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B85A4-7FC2-B78A-5038-A6272346B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The aim for this project was to uncover the relationships between grocery store departments and labor.</a:t>
            </a:r>
          </a:p>
          <a:p>
            <a:r>
              <a:rPr lang="en-US" sz="2000"/>
              <a:t>The result: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Random Forest Regression that predicted total store hours.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Gradient Boosting Regression that found significances in forecasting error.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Ada Boosting Classification that predicted when the forecast may under-schedule. </a:t>
            </a:r>
          </a:p>
          <a:p>
            <a:r>
              <a:rPr lang="en-US" sz="2000"/>
              <a:t>Although none of the three models performed exceptionally, it showed the relationships between different store departments and labor for the store as a whole. </a:t>
            </a:r>
          </a:p>
        </p:txBody>
      </p:sp>
    </p:spTree>
    <p:extLst>
      <p:ext uri="{BB962C8B-B14F-4D97-AF65-F5344CB8AC3E}">
        <p14:creationId xmlns:p14="http://schemas.microsoft.com/office/powerpoint/2010/main" val="1661411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D14A07-A1D5-BB4C-D1D6-C10F7362F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4069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Data Science Capstone: Let's Go Krogering</vt:lpstr>
      <vt:lpstr>Roadmap</vt:lpstr>
      <vt:lpstr>Background</vt:lpstr>
      <vt:lpstr>Motivation </vt:lpstr>
      <vt:lpstr>Materials </vt:lpstr>
      <vt:lpstr>E.D.A.</vt:lpstr>
      <vt:lpstr>PowerPoint Presentation</vt:lpstr>
      <vt:lpstr>The Method</vt:lpstr>
      <vt:lpstr>Model One </vt:lpstr>
      <vt:lpstr>Model 1: Predicting Total Store Hours</vt:lpstr>
      <vt:lpstr>Results</vt:lpstr>
      <vt:lpstr>Analysis</vt:lpstr>
      <vt:lpstr>Model Two</vt:lpstr>
      <vt:lpstr>Model 2: Finding the Source of Forecast Error</vt:lpstr>
      <vt:lpstr>Results</vt:lpstr>
      <vt:lpstr>Analysis</vt:lpstr>
      <vt:lpstr>Model Three</vt:lpstr>
      <vt:lpstr>Model 3: Will this Week be Sufficient or Under Scheduled?</vt:lpstr>
      <vt:lpstr>Getting the Result...</vt:lpstr>
      <vt:lpstr>Results</vt:lpstr>
      <vt:lpstr>Analysis</vt:lpstr>
      <vt:lpstr>Models United </vt:lpstr>
      <vt:lpstr>Recap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965</cp:revision>
  <dcterms:created xsi:type="dcterms:W3CDTF">2026-04-27T13:59:36Z</dcterms:created>
  <dcterms:modified xsi:type="dcterms:W3CDTF">2026-04-28T03:05:11Z</dcterms:modified>
</cp:coreProperties>
</file>