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ED71B-10A4-8311-D1F2-75D04397B614}" v="84" dt="2026-01-19T15:09:05.067"/>
    <p1510:client id="{71E06384-4020-622D-FFB4-34CB02F209A2}" v="991" dt="2026-01-20T17:14:16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98645F-64E9-4844-A201-DC6C727DBC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A566E3-B6B0-4A7B-B279-F0394A6F0F7A}">
      <dgm:prSet/>
      <dgm:spPr/>
      <dgm:t>
        <a:bodyPr/>
        <a:lstStyle/>
        <a:p>
          <a:r>
            <a:rPr lang="en-US"/>
            <a:t>Problem: Grocery stores make pricing and inventory decisions given consumer price sensitivity. </a:t>
          </a:r>
        </a:p>
      </dgm:t>
    </dgm:pt>
    <dgm:pt modelId="{C24901D4-B486-436E-97E7-8C86ED992EF6}" type="parTrans" cxnId="{21840CE3-E282-43F2-A118-8FF1A6912C20}">
      <dgm:prSet/>
      <dgm:spPr/>
      <dgm:t>
        <a:bodyPr/>
        <a:lstStyle/>
        <a:p>
          <a:endParaRPr lang="en-US"/>
        </a:p>
      </dgm:t>
    </dgm:pt>
    <dgm:pt modelId="{DD3A0E99-B510-4491-8B3D-687E4B8AAE3A}" type="sibTrans" cxnId="{21840CE3-E282-43F2-A118-8FF1A6912C20}">
      <dgm:prSet/>
      <dgm:spPr/>
      <dgm:t>
        <a:bodyPr/>
        <a:lstStyle/>
        <a:p>
          <a:endParaRPr lang="en-US"/>
        </a:p>
      </dgm:t>
    </dgm:pt>
    <dgm:pt modelId="{9E96478F-825E-47A8-92E3-91A18C8940B1}">
      <dgm:prSet/>
      <dgm:spPr/>
      <dgm:t>
        <a:bodyPr/>
        <a:lstStyle/>
        <a:p>
          <a:r>
            <a:rPr lang="en-US"/>
            <a:t>Solution: Estimate department-level demand elasticity.</a:t>
          </a:r>
        </a:p>
      </dgm:t>
    </dgm:pt>
    <dgm:pt modelId="{4F04A7D1-E81A-4544-BD37-2BB43D9D3575}" type="parTrans" cxnId="{26ED0BF2-9DA0-455C-A922-C69C73290FB3}">
      <dgm:prSet/>
      <dgm:spPr/>
      <dgm:t>
        <a:bodyPr/>
        <a:lstStyle/>
        <a:p>
          <a:endParaRPr lang="en-US"/>
        </a:p>
      </dgm:t>
    </dgm:pt>
    <dgm:pt modelId="{FD99173B-0C0C-47B1-835B-2B3D1F89CC8E}" type="sibTrans" cxnId="{26ED0BF2-9DA0-455C-A922-C69C73290FB3}">
      <dgm:prSet/>
      <dgm:spPr/>
      <dgm:t>
        <a:bodyPr/>
        <a:lstStyle/>
        <a:p>
          <a:endParaRPr lang="en-US"/>
        </a:p>
      </dgm:t>
    </dgm:pt>
    <dgm:pt modelId="{7B15B172-3BA4-4A6A-BC94-FC6FC3E04032}">
      <dgm:prSet/>
      <dgm:spPr/>
      <dgm:t>
        <a:bodyPr/>
        <a:lstStyle/>
        <a:p>
          <a:r>
            <a:rPr lang="en-US"/>
            <a:t>Why this matters: Identifying  necessity and discretionary food categories, anticipating volume movement,  and improve planning. </a:t>
          </a:r>
        </a:p>
      </dgm:t>
    </dgm:pt>
    <dgm:pt modelId="{3F3826CE-B367-4045-AA13-B9E780BB073A}" type="parTrans" cxnId="{A19F6152-463B-4A30-92D7-28CF2892F537}">
      <dgm:prSet/>
      <dgm:spPr/>
      <dgm:t>
        <a:bodyPr/>
        <a:lstStyle/>
        <a:p>
          <a:endParaRPr lang="en-US"/>
        </a:p>
      </dgm:t>
    </dgm:pt>
    <dgm:pt modelId="{C0D469BF-F9FD-4FAC-AF27-042472B34184}" type="sibTrans" cxnId="{A19F6152-463B-4A30-92D7-28CF2892F537}">
      <dgm:prSet/>
      <dgm:spPr/>
      <dgm:t>
        <a:bodyPr/>
        <a:lstStyle/>
        <a:p>
          <a:endParaRPr lang="en-US"/>
        </a:p>
      </dgm:t>
    </dgm:pt>
    <dgm:pt modelId="{8741DAF8-1C64-45EF-9957-382FF9548CB1}" type="pres">
      <dgm:prSet presAssocID="{BA98645F-64E9-4844-A201-DC6C727DBC29}" presName="linear" presStyleCnt="0">
        <dgm:presLayoutVars>
          <dgm:animLvl val="lvl"/>
          <dgm:resizeHandles val="exact"/>
        </dgm:presLayoutVars>
      </dgm:prSet>
      <dgm:spPr/>
    </dgm:pt>
    <dgm:pt modelId="{052747FA-BD14-4114-9E29-BE785B8BB369}" type="pres">
      <dgm:prSet presAssocID="{0FA566E3-B6B0-4A7B-B279-F0394A6F0F7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883C57F-CE8F-49D6-96D9-A82C8C77EA2B}" type="pres">
      <dgm:prSet presAssocID="{DD3A0E99-B510-4491-8B3D-687E4B8AAE3A}" presName="spacer" presStyleCnt="0"/>
      <dgm:spPr/>
    </dgm:pt>
    <dgm:pt modelId="{57BC7434-480D-4109-8C1C-0283BC4660A7}" type="pres">
      <dgm:prSet presAssocID="{9E96478F-825E-47A8-92E3-91A18C8940B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AA15407-184D-4F93-AB90-C1A9F6978F9B}" type="pres">
      <dgm:prSet presAssocID="{FD99173B-0C0C-47B1-835B-2B3D1F89CC8E}" presName="spacer" presStyleCnt="0"/>
      <dgm:spPr/>
    </dgm:pt>
    <dgm:pt modelId="{8CD732CC-167C-4CA0-9032-0ADEE3E8B8B9}" type="pres">
      <dgm:prSet presAssocID="{7B15B172-3BA4-4A6A-BC94-FC6FC3E0403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A98C10B-846F-41BF-BE2A-D29A3594F424}" type="presOf" srcId="{9E96478F-825E-47A8-92E3-91A18C8940B1}" destId="{57BC7434-480D-4109-8C1C-0283BC4660A7}" srcOrd="0" destOrd="0" presId="urn:microsoft.com/office/officeart/2005/8/layout/vList2"/>
    <dgm:cxn modelId="{33076B3A-4C42-4828-B980-B17FEF095E3B}" type="presOf" srcId="{7B15B172-3BA4-4A6A-BC94-FC6FC3E04032}" destId="{8CD732CC-167C-4CA0-9032-0ADEE3E8B8B9}" srcOrd="0" destOrd="0" presId="urn:microsoft.com/office/officeart/2005/8/layout/vList2"/>
    <dgm:cxn modelId="{CDBDE548-8F33-4906-AF81-234EC816377D}" type="presOf" srcId="{0FA566E3-B6B0-4A7B-B279-F0394A6F0F7A}" destId="{052747FA-BD14-4114-9E29-BE785B8BB369}" srcOrd="0" destOrd="0" presId="urn:microsoft.com/office/officeart/2005/8/layout/vList2"/>
    <dgm:cxn modelId="{A19F6152-463B-4A30-92D7-28CF2892F537}" srcId="{BA98645F-64E9-4844-A201-DC6C727DBC29}" destId="{7B15B172-3BA4-4A6A-BC94-FC6FC3E04032}" srcOrd="2" destOrd="0" parTransId="{3F3826CE-B367-4045-AA13-B9E780BB073A}" sibTransId="{C0D469BF-F9FD-4FAC-AF27-042472B34184}"/>
    <dgm:cxn modelId="{64E308BE-CA5B-4F3F-92F8-079A2A4604AA}" type="presOf" srcId="{BA98645F-64E9-4844-A201-DC6C727DBC29}" destId="{8741DAF8-1C64-45EF-9957-382FF9548CB1}" srcOrd="0" destOrd="0" presId="urn:microsoft.com/office/officeart/2005/8/layout/vList2"/>
    <dgm:cxn modelId="{21840CE3-E282-43F2-A118-8FF1A6912C20}" srcId="{BA98645F-64E9-4844-A201-DC6C727DBC29}" destId="{0FA566E3-B6B0-4A7B-B279-F0394A6F0F7A}" srcOrd="0" destOrd="0" parTransId="{C24901D4-B486-436E-97E7-8C86ED992EF6}" sibTransId="{DD3A0E99-B510-4491-8B3D-687E4B8AAE3A}"/>
    <dgm:cxn modelId="{26ED0BF2-9DA0-455C-A922-C69C73290FB3}" srcId="{BA98645F-64E9-4844-A201-DC6C727DBC29}" destId="{9E96478F-825E-47A8-92E3-91A18C8940B1}" srcOrd="1" destOrd="0" parTransId="{4F04A7D1-E81A-4544-BD37-2BB43D9D3575}" sibTransId="{FD99173B-0C0C-47B1-835B-2B3D1F89CC8E}"/>
    <dgm:cxn modelId="{F83E8409-1445-451C-BE0E-30877ABC3184}" type="presParOf" srcId="{8741DAF8-1C64-45EF-9957-382FF9548CB1}" destId="{052747FA-BD14-4114-9E29-BE785B8BB369}" srcOrd="0" destOrd="0" presId="urn:microsoft.com/office/officeart/2005/8/layout/vList2"/>
    <dgm:cxn modelId="{2EB80795-983F-4EF2-A7A3-D657E838C293}" type="presParOf" srcId="{8741DAF8-1C64-45EF-9957-382FF9548CB1}" destId="{E883C57F-CE8F-49D6-96D9-A82C8C77EA2B}" srcOrd="1" destOrd="0" presId="urn:microsoft.com/office/officeart/2005/8/layout/vList2"/>
    <dgm:cxn modelId="{1F6F7AA6-D7CC-438E-B4D5-612D7AEB0487}" type="presParOf" srcId="{8741DAF8-1C64-45EF-9957-382FF9548CB1}" destId="{57BC7434-480D-4109-8C1C-0283BC4660A7}" srcOrd="2" destOrd="0" presId="urn:microsoft.com/office/officeart/2005/8/layout/vList2"/>
    <dgm:cxn modelId="{520AE48C-1216-4609-87BE-394E17912BA0}" type="presParOf" srcId="{8741DAF8-1C64-45EF-9957-382FF9548CB1}" destId="{0AA15407-184D-4F93-AB90-C1A9F6978F9B}" srcOrd="3" destOrd="0" presId="urn:microsoft.com/office/officeart/2005/8/layout/vList2"/>
    <dgm:cxn modelId="{2406B3B3-4093-4D2A-88F5-1B9398B10714}" type="presParOf" srcId="{8741DAF8-1C64-45EF-9957-382FF9548CB1}" destId="{8CD732CC-167C-4CA0-9032-0ADEE3E8B8B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AABE0A-67A2-4109-9F91-CBD6C93D04D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16D62FE-E98D-49AF-B113-932512666564}">
      <dgm:prSet/>
      <dgm:spPr/>
      <dgm:t>
        <a:bodyPr/>
        <a:lstStyle/>
        <a:p>
          <a:r>
            <a:rPr lang="en-US"/>
            <a:t>Project Idea: How sensitive is demand across grocery departments given total sales and volume?</a:t>
          </a:r>
        </a:p>
      </dgm:t>
    </dgm:pt>
    <dgm:pt modelId="{466E6BBF-CE9E-4DF8-9400-558EEDD3733B}" type="parTrans" cxnId="{28C9F551-3366-4786-9CED-D505E3C70FCC}">
      <dgm:prSet/>
      <dgm:spPr/>
      <dgm:t>
        <a:bodyPr/>
        <a:lstStyle/>
        <a:p>
          <a:endParaRPr lang="en-US"/>
        </a:p>
      </dgm:t>
    </dgm:pt>
    <dgm:pt modelId="{A5A1BA3C-1FDC-42B0-BDBF-44218396ADE6}" type="sibTrans" cxnId="{28C9F551-3366-4786-9CED-D505E3C70FCC}">
      <dgm:prSet/>
      <dgm:spPr/>
      <dgm:t>
        <a:bodyPr/>
        <a:lstStyle/>
        <a:p>
          <a:endParaRPr lang="en-US"/>
        </a:p>
      </dgm:t>
    </dgm:pt>
    <dgm:pt modelId="{AF3FB16C-D99E-48DC-AAB1-F0750A45AE6B}">
      <dgm:prSet/>
      <dgm:spPr/>
      <dgm:t>
        <a:bodyPr/>
        <a:lstStyle/>
        <a:p>
          <a:r>
            <a:rPr lang="en-US"/>
            <a:t>Is substitution observable within or between departments?</a:t>
          </a:r>
        </a:p>
      </dgm:t>
    </dgm:pt>
    <dgm:pt modelId="{1B4CA1E1-538F-4C01-86EB-5A7AFF43289A}" type="parTrans" cxnId="{D91EFF47-7573-43F7-9A81-412E39777AA2}">
      <dgm:prSet/>
      <dgm:spPr/>
      <dgm:t>
        <a:bodyPr/>
        <a:lstStyle/>
        <a:p>
          <a:endParaRPr lang="en-US"/>
        </a:p>
      </dgm:t>
    </dgm:pt>
    <dgm:pt modelId="{A8BA9F1E-D4C2-4983-8E0B-CF19A39B691F}" type="sibTrans" cxnId="{D91EFF47-7573-43F7-9A81-412E39777AA2}">
      <dgm:prSet/>
      <dgm:spPr/>
      <dgm:t>
        <a:bodyPr/>
        <a:lstStyle/>
        <a:p>
          <a:endParaRPr lang="en-US"/>
        </a:p>
      </dgm:t>
    </dgm:pt>
    <dgm:pt modelId="{3E048F90-CA05-460D-AB78-4FFF4C743409}">
      <dgm:prSet/>
      <dgm:spPr/>
      <dgm:t>
        <a:bodyPr/>
        <a:lstStyle/>
        <a:p>
          <a:r>
            <a:rPr lang="en-US"/>
            <a:t>Goal: Develop sensitivity analysis to forecast effects of price changes and department-level demand. </a:t>
          </a:r>
        </a:p>
      </dgm:t>
    </dgm:pt>
    <dgm:pt modelId="{79FAB4F3-C679-48E5-9031-C58DC832A78F}" type="parTrans" cxnId="{B09D9555-A507-44AD-B4EF-DB3E2C9FAF59}">
      <dgm:prSet/>
      <dgm:spPr/>
      <dgm:t>
        <a:bodyPr/>
        <a:lstStyle/>
        <a:p>
          <a:endParaRPr lang="en-US"/>
        </a:p>
      </dgm:t>
    </dgm:pt>
    <dgm:pt modelId="{DBBC907A-F6D9-486A-8EB1-9EB480EFF6A0}" type="sibTrans" cxnId="{B09D9555-A507-44AD-B4EF-DB3E2C9FAF59}">
      <dgm:prSet/>
      <dgm:spPr/>
      <dgm:t>
        <a:bodyPr/>
        <a:lstStyle/>
        <a:p>
          <a:endParaRPr lang="en-US"/>
        </a:p>
      </dgm:t>
    </dgm:pt>
    <dgm:pt modelId="{20E390AF-D01B-43EE-AA75-EAA6B5079A76}" type="pres">
      <dgm:prSet presAssocID="{60AABE0A-67A2-4109-9F91-CBD6C93D04D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2CD6F50-6CE2-482D-A385-FEDB74F9AA9B}" type="pres">
      <dgm:prSet presAssocID="{E16D62FE-E98D-49AF-B113-932512666564}" presName="hierRoot1" presStyleCnt="0"/>
      <dgm:spPr/>
    </dgm:pt>
    <dgm:pt modelId="{F4BD3D3C-51C5-4811-B256-B1513E297D93}" type="pres">
      <dgm:prSet presAssocID="{E16D62FE-E98D-49AF-B113-932512666564}" presName="composite" presStyleCnt="0"/>
      <dgm:spPr/>
    </dgm:pt>
    <dgm:pt modelId="{F544738A-2065-4801-8CB1-E591D7F0E77F}" type="pres">
      <dgm:prSet presAssocID="{E16D62FE-E98D-49AF-B113-932512666564}" presName="background" presStyleLbl="node0" presStyleIdx="0" presStyleCnt="3"/>
      <dgm:spPr/>
    </dgm:pt>
    <dgm:pt modelId="{E7A60A68-D6FD-475A-B972-9D3955483530}" type="pres">
      <dgm:prSet presAssocID="{E16D62FE-E98D-49AF-B113-932512666564}" presName="text" presStyleLbl="fgAcc0" presStyleIdx="0" presStyleCnt="3">
        <dgm:presLayoutVars>
          <dgm:chPref val="3"/>
        </dgm:presLayoutVars>
      </dgm:prSet>
      <dgm:spPr/>
    </dgm:pt>
    <dgm:pt modelId="{E6CF374C-1AE0-4A6B-B402-E89857A3A0F2}" type="pres">
      <dgm:prSet presAssocID="{E16D62FE-E98D-49AF-B113-932512666564}" presName="hierChild2" presStyleCnt="0"/>
      <dgm:spPr/>
    </dgm:pt>
    <dgm:pt modelId="{F678B750-CE28-4F34-A29D-90365701233B}" type="pres">
      <dgm:prSet presAssocID="{AF3FB16C-D99E-48DC-AAB1-F0750A45AE6B}" presName="hierRoot1" presStyleCnt="0"/>
      <dgm:spPr/>
    </dgm:pt>
    <dgm:pt modelId="{8E6BE67B-EA0A-4E8B-8D24-029EA701BE8D}" type="pres">
      <dgm:prSet presAssocID="{AF3FB16C-D99E-48DC-AAB1-F0750A45AE6B}" presName="composite" presStyleCnt="0"/>
      <dgm:spPr/>
    </dgm:pt>
    <dgm:pt modelId="{2D13FC74-8488-427D-A0C4-EFD1BE6208D8}" type="pres">
      <dgm:prSet presAssocID="{AF3FB16C-D99E-48DC-AAB1-F0750A45AE6B}" presName="background" presStyleLbl="node0" presStyleIdx="1" presStyleCnt="3"/>
      <dgm:spPr/>
    </dgm:pt>
    <dgm:pt modelId="{CA40BA04-09CD-482E-9AE0-A9B5C1821D1A}" type="pres">
      <dgm:prSet presAssocID="{AF3FB16C-D99E-48DC-AAB1-F0750A45AE6B}" presName="text" presStyleLbl="fgAcc0" presStyleIdx="1" presStyleCnt="3">
        <dgm:presLayoutVars>
          <dgm:chPref val="3"/>
        </dgm:presLayoutVars>
      </dgm:prSet>
      <dgm:spPr/>
    </dgm:pt>
    <dgm:pt modelId="{EC23B318-1FE7-460D-B9EC-97331E9A5D33}" type="pres">
      <dgm:prSet presAssocID="{AF3FB16C-D99E-48DC-AAB1-F0750A45AE6B}" presName="hierChild2" presStyleCnt="0"/>
      <dgm:spPr/>
    </dgm:pt>
    <dgm:pt modelId="{3F5A3679-AE03-4E74-ADEA-8F58484EE035}" type="pres">
      <dgm:prSet presAssocID="{3E048F90-CA05-460D-AB78-4FFF4C743409}" presName="hierRoot1" presStyleCnt="0"/>
      <dgm:spPr/>
    </dgm:pt>
    <dgm:pt modelId="{5E9F041C-3FB2-4E74-A61A-5F0569AAD689}" type="pres">
      <dgm:prSet presAssocID="{3E048F90-CA05-460D-AB78-4FFF4C743409}" presName="composite" presStyleCnt="0"/>
      <dgm:spPr/>
    </dgm:pt>
    <dgm:pt modelId="{CBC14D2F-C7EF-4837-8CE2-66F75030A3ED}" type="pres">
      <dgm:prSet presAssocID="{3E048F90-CA05-460D-AB78-4FFF4C743409}" presName="background" presStyleLbl="node0" presStyleIdx="2" presStyleCnt="3"/>
      <dgm:spPr/>
    </dgm:pt>
    <dgm:pt modelId="{B1BCCBA4-229E-4C1C-B1ED-42B1F2AA1945}" type="pres">
      <dgm:prSet presAssocID="{3E048F90-CA05-460D-AB78-4FFF4C743409}" presName="text" presStyleLbl="fgAcc0" presStyleIdx="2" presStyleCnt="3">
        <dgm:presLayoutVars>
          <dgm:chPref val="3"/>
        </dgm:presLayoutVars>
      </dgm:prSet>
      <dgm:spPr/>
    </dgm:pt>
    <dgm:pt modelId="{4B8DC4EB-EBBF-41C5-9EF2-0EE0DEA4F9C7}" type="pres">
      <dgm:prSet presAssocID="{3E048F90-CA05-460D-AB78-4FFF4C743409}" presName="hierChild2" presStyleCnt="0"/>
      <dgm:spPr/>
    </dgm:pt>
  </dgm:ptLst>
  <dgm:cxnLst>
    <dgm:cxn modelId="{5C69271C-10B3-44AC-B5C2-D0E2D2D4A767}" type="presOf" srcId="{E16D62FE-E98D-49AF-B113-932512666564}" destId="{E7A60A68-D6FD-475A-B972-9D3955483530}" srcOrd="0" destOrd="0" presId="urn:microsoft.com/office/officeart/2005/8/layout/hierarchy1"/>
    <dgm:cxn modelId="{E2C5453C-1870-42D4-BF84-4D7580BA197D}" type="presOf" srcId="{60AABE0A-67A2-4109-9F91-CBD6C93D04D8}" destId="{20E390AF-D01B-43EE-AA75-EAA6B5079A76}" srcOrd="0" destOrd="0" presId="urn:microsoft.com/office/officeart/2005/8/layout/hierarchy1"/>
    <dgm:cxn modelId="{D91EFF47-7573-43F7-9A81-412E39777AA2}" srcId="{60AABE0A-67A2-4109-9F91-CBD6C93D04D8}" destId="{AF3FB16C-D99E-48DC-AAB1-F0750A45AE6B}" srcOrd="1" destOrd="0" parTransId="{1B4CA1E1-538F-4C01-86EB-5A7AFF43289A}" sibTransId="{A8BA9F1E-D4C2-4983-8E0B-CF19A39B691F}"/>
    <dgm:cxn modelId="{28C9F551-3366-4786-9CED-D505E3C70FCC}" srcId="{60AABE0A-67A2-4109-9F91-CBD6C93D04D8}" destId="{E16D62FE-E98D-49AF-B113-932512666564}" srcOrd="0" destOrd="0" parTransId="{466E6BBF-CE9E-4DF8-9400-558EEDD3733B}" sibTransId="{A5A1BA3C-1FDC-42B0-BDBF-44218396ADE6}"/>
    <dgm:cxn modelId="{B09D9555-A507-44AD-B4EF-DB3E2C9FAF59}" srcId="{60AABE0A-67A2-4109-9F91-CBD6C93D04D8}" destId="{3E048F90-CA05-460D-AB78-4FFF4C743409}" srcOrd="2" destOrd="0" parTransId="{79FAB4F3-C679-48E5-9031-C58DC832A78F}" sibTransId="{DBBC907A-F6D9-486A-8EB1-9EB480EFF6A0}"/>
    <dgm:cxn modelId="{6C0FD990-B877-487D-AEEB-851D3A54EA68}" type="presOf" srcId="{3E048F90-CA05-460D-AB78-4FFF4C743409}" destId="{B1BCCBA4-229E-4C1C-B1ED-42B1F2AA1945}" srcOrd="0" destOrd="0" presId="urn:microsoft.com/office/officeart/2005/8/layout/hierarchy1"/>
    <dgm:cxn modelId="{05DB08EC-0ED7-413F-8DEF-301C69DF6A4A}" type="presOf" srcId="{AF3FB16C-D99E-48DC-AAB1-F0750A45AE6B}" destId="{CA40BA04-09CD-482E-9AE0-A9B5C1821D1A}" srcOrd="0" destOrd="0" presId="urn:microsoft.com/office/officeart/2005/8/layout/hierarchy1"/>
    <dgm:cxn modelId="{437C4D8B-378D-44C9-8C41-DF1B7336F61F}" type="presParOf" srcId="{20E390AF-D01B-43EE-AA75-EAA6B5079A76}" destId="{A2CD6F50-6CE2-482D-A385-FEDB74F9AA9B}" srcOrd="0" destOrd="0" presId="urn:microsoft.com/office/officeart/2005/8/layout/hierarchy1"/>
    <dgm:cxn modelId="{DA32B134-9090-4377-AA9B-E74A81E1C40F}" type="presParOf" srcId="{A2CD6F50-6CE2-482D-A385-FEDB74F9AA9B}" destId="{F4BD3D3C-51C5-4811-B256-B1513E297D93}" srcOrd="0" destOrd="0" presId="urn:microsoft.com/office/officeart/2005/8/layout/hierarchy1"/>
    <dgm:cxn modelId="{D45E8C97-DAA5-4023-BF90-43759EA104AA}" type="presParOf" srcId="{F4BD3D3C-51C5-4811-B256-B1513E297D93}" destId="{F544738A-2065-4801-8CB1-E591D7F0E77F}" srcOrd="0" destOrd="0" presId="urn:microsoft.com/office/officeart/2005/8/layout/hierarchy1"/>
    <dgm:cxn modelId="{4AB76C7A-F640-4A46-B698-96847F829D50}" type="presParOf" srcId="{F4BD3D3C-51C5-4811-B256-B1513E297D93}" destId="{E7A60A68-D6FD-475A-B972-9D3955483530}" srcOrd="1" destOrd="0" presId="urn:microsoft.com/office/officeart/2005/8/layout/hierarchy1"/>
    <dgm:cxn modelId="{126AC3E1-D2A5-45FA-96C8-3277C99846D3}" type="presParOf" srcId="{A2CD6F50-6CE2-482D-A385-FEDB74F9AA9B}" destId="{E6CF374C-1AE0-4A6B-B402-E89857A3A0F2}" srcOrd="1" destOrd="0" presId="urn:microsoft.com/office/officeart/2005/8/layout/hierarchy1"/>
    <dgm:cxn modelId="{7E940CD6-BC31-4FEF-8E28-B26712C6183A}" type="presParOf" srcId="{20E390AF-D01B-43EE-AA75-EAA6B5079A76}" destId="{F678B750-CE28-4F34-A29D-90365701233B}" srcOrd="1" destOrd="0" presId="urn:microsoft.com/office/officeart/2005/8/layout/hierarchy1"/>
    <dgm:cxn modelId="{9ADCB19D-3F78-4627-9D53-983CC218B1DC}" type="presParOf" srcId="{F678B750-CE28-4F34-A29D-90365701233B}" destId="{8E6BE67B-EA0A-4E8B-8D24-029EA701BE8D}" srcOrd="0" destOrd="0" presId="urn:microsoft.com/office/officeart/2005/8/layout/hierarchy1"/>
    <dgm:cxn modelId="{86ABF600-FE99-41D3-8434-9D2E48C1F455}" type="presParOf" srcId="{8E6BE67B-EA0A-4E8B-8D24-029EA701BE8D}" destId="{2D13FC74-8488-427D-A0C4-EFD1BE6208D8}" srcOrd="0" destOrd="0" presId="urn:microsoft.com/office/officeart/2005/8/layout/hierarchy1"/>
    <dgm:cxn modelId="{7072CAA2-2284-4E6D-A757-C4034A33C396}" type="presParOf" srcId="{8E6BE67B-EA0A-4E8B-8D24-029EA701BE8D}" destId="{CA40BA04-09CD-482E-9AE0-A9B5C1821D1A}" srcOrd="1" destOrd="0" presId="urn:microsoft.com/office/officeart/2005/8/layout/hierarchy1"/>
    <dgm:cxn modelId="{2E9DB2AB-7448-4100-8DA9-0E3E258CA338}" type="presParOf" srcId="{F678B750-CE28-4F34-A29D-90365701233B}" destId="{EC23B318-1FE7-460D-B9EC-97331E9A5D33}" srcOrd="1" destOrd="0" presId="urn:microsoft.com/office/officeart/2005/8/layout/hierarchy1"/>
    <dgm:cxn modelId="{92459E2F-8283-4EBA-8C86-43A4B0A3A968}" type="presParOf" srcId="{20E390AF-D01B-43EE-AA75-EAA6B5079A76}" destId="{3F5A3679-AE03-4E74-ADEA-8F58484EE035}" srcOrd="2" destOrd="0" presId="urn:microsoft.com/office/officeart/2005/8/layout/hierarchy1"/>
    <dgm:cxn modelId="{22AC7D23-EABA-4EC7-8725-B3A6010091D2}" type="presParOf" srcId="{3F5A3679-AE03-4E74-ADEA-8F58484EE035}" destId="{5E9F041C-3FB2-4E74-A61A-5F0569AAD689}" srcOrd="0" destOrd="0" presId="urn:microsoft.com/office/officeart/2005/8/layout/hierarchy1"/>
    <dgm:cxn modelId="{DCDE4476-0311-47D2-A78B-39B9786CD8B1}" type="presParOf" srcId="{5E9F041C-3FB2-4E74-A61A-5F0569AAD689}" destId="{CBC14D2F-C7EF-4837-8CE2-66F75030A3ED}" srcOrd="0" destOrd="0" presId="urn:microsoft.com/office/officeart/2005/8/layout/hierarchy1"/>
    <dgm:cxn modelId="{2C2FEEF3-827B-42D0-88EC-4E0ADA53E473}" type="presParOf" srcId="{5E9F041C-3FB2-4E74-A61A-5F0569AAD689}" destId="{B1BCCBA4-229E-4C1C-B1ED-42B1F2AA1945}" srcOrd="1" destOrd="0" presId="urn:microsoft.com/office/officeart/2005/8/layout/hierarchy1"/>
    <dgm:cxn modelId="{07D62C21-F0B8-4610-A928-0ED7A3B05414}" type="presParOf" srcId="{3F5A3679-AE03-4E74-ADEA-8F58484EE035}" destId="{4B8DC4EB-EBBF-41C5-9EF2-0EE0DEA4F9C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747FA-BD14-4114-9E29-BE785B8BB369}">
      <dsp:nvSpPr>
        <dsp:cNvPr id="0" name=""/>
        <dsp:cNvSpPr/>
      </dsp:nvSpPr>
      <dsp:spPr>
        <a:xfrm>
          <a:off x="0" y="486819"/>
          <a:ext cx="1051560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Problem: Grocery stores make pricing and inventory decisions given consumer price sensitivity. </a:t>
          </a:r>
        </a:p>
      </dsp:txBody>
      <dsp:txXfrm>
        <a:off x="52431" y="539250"/>
        <a:ext cx="10410738" cy="969198"/>
      </dsp:txXfrm>
    </dsp:sp>
    <dsp:sp modelId="{57BC7434-480D-4109-8C1C-0283BC4660A7}">
      <dsp:nvSpPr>
        <dsp:cNvPr id="0" name=""/>
        <dsp:cNvSpPr/>
      </dsp:nvSpPr>
      <dsp:spPr>
        <a:xfrm>
          <a:off x="0" y="1638639"/>
          <a:ext cx="1051560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Solution: Estimate department-level demand elasticity.</a:t>
          </a:r>
        </a:p>
      </dsp:txBody>
      <dsp:txXfrm>
        <a:off x="52431" y="1691070"/>
        <a:ext cx="10410738" cy="969198"/>
      </dsp:txXfrm>
    </dsp:sp>
    <dsp:sp modelId="{8CD732CC-167C-4CA0-9032-0ADEE3E8B8B9}">
      <dsp:nvSpPr>
        <dsp:cNvPr id="0" name=""/>
        <dsp:cNvSpPr/>
      </dsp:nvSpPr>
      <dsp:spPr>
        <a:xfrm>
          <a:off x="0" y="2790459"/>
          <a:ext cx="1051560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Why this matters: Identifying  necessity and discretionary food categories, anticipating volume movement,  and improve planning. </a:t>
          </a:r>
        </a:p>
      </dsp:txBody>
      <dsp:txXfrm>
        <a:off x="52431" y="2842890"/>
        <a:ext cx="10410738" cy="969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4738A-2065-4801-8CB1-E591D7F0E77F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60A68-D6FD-475A-B972-9D3955483530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Project Idea: How sensitive is demand across grocery departments given total sales and volume?</a:t>
          </a:r>
        </a:p>
      </dsp:txBody>
      <dsp:txXfrm>
        <a:off x="398656" y="1088253"/>
        <a:ext cx="2959127" cy="1837317"/>
      </dsp:txXfrm>
    </dsp:sp>
    <dsp:sp modelId="{2D13FC74-8488-427D-A0C4-EFD1BE6208D8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0BA04-09CD-482E-9AE0-A9B5C1821D1A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Is substitution observable within or between departments?</a:t>
          </a:r>
        </a:p>
      </dsp:txBody>
      <dsp:txXfrm>
        <a:off x="4155097" y="1088253"/>
        <a:ext cx="2959127" cy="1837317"/>
      </dsp:txXfrm>
    </dsp:sp>
    <dsp:sp modelId="{CBC14D2F-C7EF-4837-8CE2-66F75030A3ED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CCBA4-229E-4C1C-B1ED-42B1F2AA1945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Goal: Develop sensitivity analysis to forecast effects of price changes and department-level demand. 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DS-450 Project Proposal: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Grocery Elasticity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Nik Mrdak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01/20/26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DEE6-665A-A7FE-F736-6DA2D9B1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D2125"/>
                </a:solidFill>
              </a:rPr>
              <a:t>Problem and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23F9B7-13F0-D80C-527F-874F8E1A80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311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EBC46-F53E-E339-FE06-E73FFACF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Project Idea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DBCED2-3EA1-D522-2AB3-4929573C8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97306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141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521CC-FB1C-C1B0-0207-5051E8A44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Dataset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CD186-D121-9944-2244-B98B02CB8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/>
              <a:t>Data source: Highlands Kroger internal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2440 Bardstown Rd 40205</a:t>
            </a:r>
          </a:p>
          <a:p>
            <a:r>
              <a:rPr lang="en-US" sz="2400" dirty="0"/>
              <a:t>Key Features: Sales revenue and volume for each department overtime.</a:t>
            </a:r>
          </a:p>
          <a:p>
            <a:r>
              <a:rPr lang="en-US" sz="2400" dirty="0"/>
              <a:t>Important Mention: No data on individual product prices, a proxy to subsitute: Department Sales / Units Sold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BB14F120-DA8C-18B2-04B2-9CD58D6AC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36" r="23448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08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4BF0E-19CF-B8C1-4C97-2069FA97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Modeling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3AA8-6130-000E-9006-42DB30977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Three potential models to apply:</a:t>
            </a:r>
          </a:p>
          <a:p>
            <a:pPr marL="457200" lvl="1" indent="0">
              <a:buNone/>
            </a:pPr>
            <a:r>
              <a:rPr lang="en-US" dirty="0"/>
              <a:t>1)Logistic regression of department-level demand.</a:t>
            </a:r>
          </a:p>
          <a:p>
            <a:pPr marL="457200" lvl="1" indent="0">
              <a:buNone/>
            </a:pPr>
            <a:r>
              <a:rPr lang="en-US" dirty="0"/>
              <a:t>-What departments or department  subcategories are necessary or discretionary? </a:t>
            </a:r>
          </a:p>
          <a:p>
            <a:pPr marL="457200" lvl="1" indent="0">
              <a:buNone/>
            </a:pPr>
            <a:r>
              <a:rPr lang="en-US" dirty="0"/>
              <a:t>2) Time-lagged elasticity model.</a:t>
            </a:r>
          </a:p>
          <a:p>
            <a:pPr marL="457200" lvl="1" indent="0">
              <a:buNone/>
            </a:pPr>
            <a:r>
              <a:rPr lang="en-US" dirty="0"/>
              <a:t>-Discover any time delay between price changes and customer behaviors.</a:t>
            </a:r>
          </a:p>
          <a:p>
            <a:pPr marL="457200" lvl="1" indent="0">
              <a:buNone/>
            </a:pPr>
            <a:r>
              <a:rPr lang="en-US" dirty="0"/>
              <a:t>3) Multivariate regression between departments.</a:t>
            </a:r>
          </a:p>
          <a:p>
            <a:pPr marL="457200" lvl="1" indent="0">
              <a:buNone/>
            </a:pPr>
            <a:r>
              <a:rPr lang="en-US" dirty="0"/>
              <a:t>-Looking  for any correlations; how do customers reallocate spending? </a:t>
            </a:r>
          </a:p>
        </p:txBody>
      </p:sp>
    </p:spTree>
    <p:extLst>
      <p:ext uri="{BB962C8B-B14F-4D97-AF65-F5344CB8AC3E}">
        <p14:creationId xmlns:p14="http://schemas.microsoft.com/office/powerpoint/2010/main" val="4171399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D255C-4881-B858-1F7D-913582543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D8F0A2D-5BCA-B4E8-1BED-CC7F67F6F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In short: Project aiming to estimate grocery demand elasticity using aggregate store data.</a:t>
            </a:r>
          </a:p>
          <a:p>
            <a:pPr>
              <a:lnSpc>
                <a:spcPct val="150000"/>
              </a:lnSpc>
            </a:pPr>
            <a:r>
              <a:rPr lang="en-US"/>
              <a:t>Hopefully results in robust predictions and managerial relevance. </a:t>
            </a:r>
          </a:p>
          <a:p>
            <a:pPr>
              <a:lnSpc>
                <a:spcPct val="150000"/>
              </a:lnSpc>
            </a:pPr>
            <a:r>
              <a:rPr lang="en-US"/>
              <a:t>Expected Results: Estimates for department-specific elasticity, substitution under price  pressure, and changing customer price sensitivity.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5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CC489-855B-3D11-D00C-057F8D2F6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47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DS-450 Project Proposal: Grocery Elasticity</vt:lpstr>
      <vt:lpstr>Problem and Solution</vt:lpstr>
      <vt:lpstr>Project Idea</vt:lpstr>
      <vt:lpstr>Dataset</vt:lpstr>
      <vt:lpstr>Modeling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222</cp:revision>
  <dcterms:created xsi:type="dcterms:W3CDTF">2026-01-19T14:56:06Z</dcterms:created>
  <dcterms:modified xsi:type="dcterms:W3CDTF">2026-01-20T17:28:40Z</dcterms:modified>
</cp:coreProperties>
</file>