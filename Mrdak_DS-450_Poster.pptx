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8"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40" userDrawn="1">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5ED38E-49BE-4694-A225-009C593D5789}" v="1" dt="2026-03-17T00:29:54.7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558" autoAdjust="0"/>
  </p:normalViewPr>
  <p:slideViewPr>
    <p:cSldViewPr snapToGrid="0" snapToObjects="1" showGuides="1">
      <p:cViewPr>
        <p:scale>
          <a:sx n="14" d="100"/>
          <a:sy n="14" d="100"/>
        </p:scale>
        <p:origin x="1812" y="24"/>
      </p:cViewPr>
      <p:guideLst>
        <p:guide orient="horz" pos="3318"/>
        <p:guide orient="horz" pos="240"/>
        <p:guide orient="horz" pos="20160"/>
        <p:guide orient="horz"/>
        <p:guide pos="264"/>
        <p:guide pos="27384"/>
      </p:guideLst>
    </p:cSldViewPr>
  </p:slideViewPr>
  <p:outlineViewPr>
    <p:cViewPr>
      <p:scale>
        <a:sx n="33" d="100"/>
        <a:sy n="33" d="100"/>
      </p:scale>
      <p:origin x="0" y="0"/>
    </p:cViewPr>
  </p:outlineViewPr>
  <p:notesTextViewPr>
    <p:cViewPr>
      <p:scale>
        <a:sx n="3" d="2"/>
        <a:sy n="3" d="2"/>
      </p:scale>
      <p:origin x="0" y="-42"/>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ola J. Mrdak" userId="c656906f-b3dd-441b-9c78-810d52e75940" providerId="ADAL" clId="{62A17F9B-FD4C-4BAF-BD40-09A4D789F33B}"/>
    <pc:docChg chg="custSel modSld">
      <pc:chgData name="Nikola J. Mrdak" userId="c656906f-b3dd-441b-9c78-810d52e75940" providerId="ADAL" clId="{62A17F9B-FD4C-4BAF-BD40-09A4D789F33B}" dt="2026-03-17T00:36:00.652" v="250" actId="113"/>
      <pc:docMkLst>
        <pc:docMk/>
      </pc:docMkLst>
      <pc:sldChg chg="addSp modSp mod">
        <pc:chgData name="Nikola J. Mrdak" userId="c656906f-b3dd-441b-9c78-810d52e75940" providerId="ADAL" clId="{62A17F9B-FD4C-4BAF-BD40-09A4D789F33B}" dt="2026-03-17T00:36:00.652" v="250" actId="113"/>
        <pc:sldMkLst>
          <pc:docMk/>
          <pc:sldMk cId="358771719" sldId="258"/>
        </pc:sldMkLst>
        <pc:spChg chg="mod">
          <ac:chgData name="Nikola J. Mrdak" userId="c656906f-b3dd-441b-9c78-810d52e75940" providerId="ADAL" clId="{62A17F9B-FD4C-4BAF-BD40-09A4D789F33B}" dt="2026-03-17T00:32:18.859" v="197" actId="255"/>
          <ac:spMkLst>
            <pc:docMk/>
            <pc:sldMk cId="358771719" sldId="258"/>
            <ac:spMk id="2" creationId="{7039B15A-A5D0-CCF3-5253-13C72B1D5BE0}"/>
          </ac:spMkLst>
        </pc:spChg>
        <pc:spChg chg="mod">
          <ac:chgData name="Nikola J. Mrdak" userId="c656906f-b3dd-441b-9c78-810d52e75940" providerId="ADAL" clId="{62A17F9B-FD4C-4BAF-BD40-09A4D789F33B}" dt="2026-03-17T00:29:38.570" v="186" actId="255"/>
          <ac:spMkLst>
            <pc:docMk/>
            <pc:sldMk cId="358771719" sldId="258"/>
            <ac:spMk id="3" creationId="{ABF601BF-2A5B-5C56-BF98-D57CC5FA7615}"/>
          </ac:spMkLst>
        </pc:spChg>
        <pc:spChg chg="mod">
          <ac:chgData name="Nikola J. Mrdak" userId="c656906f-b3dd-441b-9c78-810d52e75940" providerId="ADAL" clId="{62A17F9B-FD4C-4BAF-BD40-09A4D789F33B}" dt="2026-03-17T00:29:44.744" v="187" actId="255"/>
          <ac:spMkLst>
            <pc:docMk/>
            <pc:sldMk cId="358771719" sldId="258"/>
            <ac:spMk id="4" creationId="{2FA128F3-6A57-DD54-BC55-ABC7987AB417}"/>
          </ac:spMkLst>
        </pc:spChg>
        <pc:spChg chg="mod">
          <ac:chgData name="Nikola J. Mrdak" userId="c656906f-b3dd-441b-9c78-810d52e75940" providerId="ADAL" clId="{62A17F9B-FD4C-4BAF-BD40-09A4D789F33B}" dt="2026-03-17T00:35:51.046" v="248" actId="20577"/>
          <ac:spMkLst>
            <pc:docMk/>
            <pc:sldMk cId="358771719" sldId="258"/>
            <ac:spMk id="5" creationId="{7E17A497-46C1-B833-4D36-ADCA71D86349}"/>
          </ac:spMkLst>
        </pc:spChg>
        <pc:spChg chg="mod">
          <ac:chgData name="Nikola J. Mrdak" userId="c656906f-b3dd-441b-9c78-810d52e75940" providerId="ADAL" clId="{62A17F9B-FD4C-4BAF-BD40-09A4D789F33B}" dt="2026-03-17T00:29:49.746" v="188" actId="255"/>
          <ac:spMkLst>
            <pc:docMk/>
            <pc:sldMk cId="358771719" sldId="258"/>
            <ac:spMk id="6" creationId="{6585B3EA-B18E-7FC2-B2CD-2D7E02CF97EB}"/>
          </ac:spMkLst>
        </pc:spChg>
        <pc:spChg chg="mod">
          <ac:chgData name="Nikola J. Mrdak" userId="c656906f-b3dd-441b-9c78-810d52e75940" providerId="ADAL" clId="{62A17F9B-FD4C-4BAF-BD40-09A4D789F33B}" dt="2026-03-17T00:32:42.405" v="200" actId="255"/>
          <ac:spMkLst>
            <pc:docMk/>
            <pc:sldMk cId="358771719" sldId="258"/>
            <ac:spMk id="7" creationId="{4F5BE437-9F0D-82A7-FBFB-D2DBD5108729}"/>
          </ac:spMkLst>
        </pc:spChg>
        <pc:spChg chg="mod">
          <ac:chgData name="Nikola J. Mrdak" userId="c656906f-b3dd-441b-9c78-810d52e75940" providerId="ADAL" clId="{62A17F9B-FD4C-4BAF-BD40-09A4D789F33B}" dt="2026-03-17T00:31:22.482" v="193" actId="255"/>
          <ac:spMkLst>
            <pc:docMk/>
            <pc:sldMk cId="358771719" sldId="258"/>
            <ac:spMk id="8" creationId="{194151B7-6ED8-F2C6-FE53-92BB5AE7F145}"/>
          </ac:spMkLst>
        </pc:spChg>
        <pc:spChg chg="mod">
          <ac:chgData name="Nikola J. Mrdak" userId="c656906f-b3dd-441b-9c78-810d52e75940" providerId="ADAL" clId="{62A17F9B-FD4C-4BAF-BD40-09A4D789F33B}" dt="2026-03-17T00:31:27.305" v="194" actId="255"/>
          <ac:spMkLst>
            <pc:docMk/>
            <pc:sldMk cId="358771719" sldId="258"/>
            <ac:spMk id="9" creationId="{109607D9-8986-46BB-4981-8DFFD1929625}"/>
          </ac:spMkLst>
        </pc:spChg>
        <pc:spChg chg="mod">
          <ac:chgData name="Nikola J. Mrdak" userId="c656906f-b3dd-441b-9c78-810d52e75940" providerId="ADAL" clId="{62A17F9B-FD4C-4BAF-BD40-09A4D789F33B}" dt="2026-03-17T00:36:00.652" v="250" actId="113"/>
          <ac:spMkLst>
            <pc:docMk/>
            <pc:sldMk cId="358771719" sldId="258"/>
            <ac:spMk id="10" creationId="{BD8D252B-839A-3EC0-1EEA-A62A153F85EC}"/>
          </ac:spMkLst>
        </pc:spChg>
        <pc:spChg chg="mod">
          <ac:chgData name="Nikola J. Mrdak" userId="c656906f-b3dd-441b-9c78-810d52e75940" providerId="ADAL" clId="{62A17F9B-FD4C-4BAF-BD40-09A4D789F33B}" dt="2026-03-17T00:31:32.342" v="195" actId="255"/>
          <ac:spMkLst>
            <pc:docMk/>
            <pc:sldMk cId="358771719" sldId="258"/>
            <ac:spMk id="11" creationId="{13725BF2-9AE2-7633-0FAE-711AAE057EFC}"/>
          </ac:spMkLst>
        </pc:spChg>
        <pc:spChg chg="mod">
          <ac:chgData name="Nikola J. Mrdak" userId="c656906f-b3dd-441b-9c78-810d52e75940" providerId="ADAL" clId="{62A17F9B-FD4C-4BAF-BD40-09A4D789F33B}" dt="2026-03-17T00:32:54.773" v="202" actId="255"/>
          <ac:spMkLst>
            <pc:docMk/>
            <pc:sldMk cId="358771719" sldId="258"/>
            <ac:spMk id="12" creationId="{14C41E60-197E-8E8D-43FF-35936D78FF38}"/>
          </ac:spMkLst>
        </pc:spChg>
        <pc:spChg chg="mod">
          <ac:chgData name="Nikola J. Mrdak" userId="c656906f-b3dd-441b-9c78-810d52e75940" providerId="ADAL" clId="{62A17F9B-FD4C-4BAF-BD40-09A4D789F33B}" dt="2026-03-17T00:31:44.694" v="196" actId="255"/>
          <ac:spMkLst>
            <pc:docMk/>
            <pc:sldMk cId="358771719" sldId="258"/>
            <ac:spMk id="13" creationId="{0F6D87B7-C12A-12F9-A946-B5E4656EE02D}"/>
          </ac:spMkLst>
        </pc:spChg>
        <pc:spChg chg="mod">
          <ac:chgData name="Nikola J. Mrdak" userId="c656906f-b3dd-441b-9c78-810d52e75940" providerId="ADAL" clId="{62A17F9B-FD4C-4BAF-BD40-09A4D789F33B}" dt="2026-03-17T00:33:01.884" v="203" actId="255"/>
          <ac:spMkLst>
            <pc:docMk/>
            <pc:sldMk cId="358771719" sldId="258"/>
            <ac:spMk id="14" creationId="{09D2277D-0005-E662-D92E-2AF719434B25}"/>
          </ac:spMkLst>
        </pc:spChg>
        <pc:spChg chg="mod">
          <ac:chgData name="Nikola J. Mrdak" userId="c656906f-b3dd-441b-9c78-810d52e75940" providerId="ADAL" clId="{62A17F9B-FD4C-4BAF-BD40-09A4D789F33B}" dt="2026-03-17T00:32:28.333" v="198" actId="255"/>
          <ac:spMkLst>
            <pc:docMk/>
            <pc:sldMk cId="358771719" sldId="258"/>
            <ac:spMk id="15" creationId="{AD1D784A-4141-28D6-4A5F-930A6B66176C}"/>
          </ac:spMkLst>
        </pc:spChg>
        <pc:spChg chg="mod">
          <ac:chgData name="Nikola J. Mrdak" userId="c656906f-b3dd-441b-9c78-810d52e75940" providerId="ADAL" clId="{62A17F9B-FD4C-4BAF-BD40-09A4D789F33B}" dt="2026-03-17T00:35:29.303" v="225" actId="20577"/>
          <ac:spMkLst>
            <pc:docMk/>
            <pc:sldMk cId="358771719" sldId="258"/>
            <ac:spMk id="16" creationId="{0AD2DAE7-5392-D4F6-09BD-CBD3734582B2}"/>
          </ac:spMkLst>
        </pc:spChg>
        <pc:spChg chg="mod">
          <ac:chgData name="Nikola J. Mrdak" userId="c656906f-b3dd-441b-9c78-810d52e75940" providerId="ADAL" clId="{62A17F9B-FD4C-4BAF-BD40-09A4D789F33B}" dt="2026-03-17T00:28:58.279" v="185" actId="255"/>
          <ac:spMkLst>
            <pc:docMk/>
            <pc:sldMk cId="358771719" sldId="258"/>
            <ac:spMk id="17" creationId="{AAE1D3A5-28F2-B404-D4C7-47EB988D933E}"/>
          </ac:spMkLst>
        </pc:spChg>
        <pc:spChg chg="mod">
          <ac:chgData name="Nikola J. Mrdak" userId="c656906f-b3dd-441b-9c78-810d52e75940" providerId="ADAL" clId="{62A17F9B-FD4C-4BAF-BD40-09A4D789F33B}" dt="2026-03-17T00:28:26.024" v="181" actId="255"/>
          <ac:spMkLst>
            <pc:docMk/>
            <pc:sldMk cId="358771719" sldId="258"/>
            <ac:spMk id="18" creationId="{12CD0C50-C7FD-6047-8A81-F714D190A0F7}"/>
          </ac:spMkLst>
        </pc:spChg>
        <pc:picChg chg="add mod">
          <ac:chgData name="Nikola J. Mrdak" userId="c656906f-b3dd-441b-9c78-810d52e75940" providerId="ADAL" clId="{62A17F9B-FD4C-4BAF-BD40-09A4D789F33B}" dt="2026-03-17T00:30:46.564" v="192" actId="1076"/>
          <ac:picMkLst>
            <pc:docMk/>
            <pc:sldMk cId="358771719" sldId="258"/>
            <ac:picMk id="19" creationId="{043F444F-6CD9-E131-A92C-73AB70AA567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3/18/2026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3/18/2026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2126625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5829841"/>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3663873"/>
            <a:ext cx="10050462"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000109"/>
            <a:ext cx="10058400"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000109"/>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5829841"/>
            <a:ext cx="10047018"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3724098"/>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4462762"/>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130761"/>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5884806"/>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402912"/>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505788"/>
            <a:ext cx="31998968" cy="523220"/>
          </a:xfrm>
          <a:prstGeom prst="rect">
            <a:avLst/>
          </a:prstGeom>
        </p:spPr>
        <p:txBody>
          <a:bodyPr anchor="t" anchorCtr="0">
            <a:spAutoFit/>
          </a:bodyPr>
          <a:lstStyle>
            <a:lvl1pPr marL="0" indent="0" algn="ctr">
              <a:buFontTx/>
              <a:buNone/>
              <a:defRPr sz="28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562745"/>
            <a:ext cx="31998968" cy="769441"/>
          </a:xfrm>
          <a:prstGeom prst="rect">
            <a:avLst/>
          </a:prstGeom>
        </p:spPr>
        <p:txBody>
          <a:bodyPr anchor="t" anchorCtr="0">
            <a:spAutoFit/>
          </a:bodyPr>
          <a:lstStyle>
            <a:lvl1pPr marL="0" indent="0" algn="ctr">
              <a:buFontTx/>
              <a:buNone/>
              <a:defRPr sz="44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923330"/>
          </a:xfrm>
          <a:prstGeom prst="rect">
            <a:avLst/>
          </a:prstGeom>
        </p:spPr>
        <p:txBody>
          <a:bodyPr anchor="t" anchorCtr="0">
            <a:spAutoFit/>
          </a:bodyPr>
          <a:lstStyle>
            <a:lvl1pPr marL="0" indent="0" algn="ctr">
              <a:buFontTx/>
              <a:buNone/>
              <a:defRPr sz="54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C4703D5-BF2F-DF41-7EEE-50B26CAB4433}"/>
              </a:ext>
            </a:extLst>
          </p:cNvPr>
          <p:cNvSpPr/>
          <p:nvPr userDrawn="1"/>
        </p:nvSpPr>
        <p:spPr>
          <a:xfrm>
            <a:off x="0" y="32077025"/>
            <a:ext cx="43891200" cy="9132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652905" y="32351882"/>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nvGrpSpPr>
          <p:cNvPr id="6" name="Group 5">
            <a:extLst>
              <a:ext uri="{FF2B5EF4-FFF2-40B4-BE49-F238E27FC236}">
                <a16:creationId xmlns:a16="http://schemas.microsoft.com/office/drawing/2014/main" id="{E5ED0136-E6E9-E340-DCD6-5053BABFBFE4}"/>
              </a:ext>
            </a:extLst>
          </p:cNvPr>
          <p:cNvGrpSpPr/>
          <p:nvPr userDrawn="1"/>
        </p:nvGrpSpPr>
        <p:grpSpPr>
          <a:xfrm>
            <a:off x="0" y="14098"/>
            <a:ext cx="43891200" cy="4314166"/>
            <a:chOff x="0" y="-1"/>
            <a:chExt cx="12192000" cy="1219223"/>
          </a:xfrm>
        </p:grpSpPr>
        <p:sp>
          <p:nvSpPr>
            <p:cNvPr id="7" name="Document 6">
              <a:extLst>
                <a:ext uri="{FF2B5EF4-FFF2-40B4-BE49-F238E27FC236}">
                  <a16:creationId xmlns:a16="http://schemas.microsoft.com/office/drawing/2014/main" id="{F27200FE-D213-3004-DA26-3B8202A2AB23}"/>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a:extLst>
                <a:ext uri="{FF2B5EF4-FFF2-40B4-BE49-F238E27FC236}">
                  <a16:creationId xmlns:a16="http://schemas.microsoft.com/office/drawing/2014/main" id="{BB4B2C32-5D48-98BC-A030-3CCE7D871E0A}"/>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12" name="Table 11">
            <a:extLst>
              <a:ext uri="{FF2B5EF4-FFF2-40B4-BE49-F238E27FC236}">
                <a16:creationId xmlns:a16="http://schemas.microsoft.com/office/drawing/2014/main" id="{9631A715-ABDD-C916-FF3F-590B3A828BD8}"/>
              </a:ext>
            </a:extLst>
          </p:cNvPr>
          <p:cNvGraphicFramePr>
            <a:graphicFrameLocks noGrp="1"/>
          </p:cNvGraphicFramePr>
          <p:nvPr userDrawn="1">
            <p:extLst>
              <p:ext uri="{D42A27DB-BD31-4B8C-83A1-F6EECF244321}">
                <p14:modId xmlns:p14="http://schemas.microsoft.com/office/powerpoint/2010/main" val="428177025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3" name="Table 12">
            <a:extLst>
              <a:ext uri="{FF2B5EF4-FFF2-40B4-BE49-F238E27FC236}">
                <a16:creationId xmlns:a16="http://schemas.microsoft.com/office/drawing/2014/main" id="{72BD4B14-1893-B4DB-61A1-412ACC2BFADA}"/>
              </a:ext>
            </a:extLst>
          </p:cNvPr>
          <p:cNvGraphicFramePr>
            <a:graphicFrameLocks noGrp="1"/>
          </p:cNvGraphicFramePr>
          <p:nvPr userDrawn="1">
            <p:extLst>
              <p:ext uri="{D42A27DB-BD31-4B8C-83A1-F6EECF244321}">
                <p14:modId xmlns:p14="http://schemas.microsoft.com/office/powerpoint/2010/main" val="1007574606"/>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4.png"/><Relationship Id="rId3" Type="http://schemas.openxmlformats.org/officeDocument/2006/relationships/hyperlink" Target="https://www.fmi.org/our-research/food-industry-facts?utm_source=chatgpt.com" TargetMode="External"/><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nmrdak@bellarmine.edu" TargetMode="External"/><Relationship Id="rId11" Type="http://schemas.openxmlformats.org/officeDocument/2006/relationships/image" Target="../media/image12.png"/><Relationship Id="rId5" Type="http://schemas.openxmlformats.org/officeDocument/2006/relationships/hyperlink" Target="https://en.wikipedia.org/wiki/Decision_tree_learning" TargetMode="External"/><Relationship Id="rId10" Type="http://schemas.openxmlformats.org/officeDocument/2006/relationships/image" Target="../media/image11.png"/><Relationship Id="rId4" Type="http://schemas.openxmlformats.org/officeDocument/2006/relationships/hyperlink" Target="https://scikit-learn.org/stable/modules/generated/sklearn.ensemble.RandomForestRegressor.html?utm_source=chatgpt.com" TargetMode="External"/><Relationship Id="rId9" Type="http://schemas.openxmlformats.org/officeDocument/2006/relationships/hyperlink" Target="https://www.groceteria.com/place/north-carolina/triad/greensboro/krogering-in-greensboro/" TargetMode="External"/><Relationship Id="rId1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Single Corner Rounded 20">
            <a:extLst>
              <a:ext uri="{FF2B5EF4-FFF2-40B4-BE49-F238E27FC236}">
                <a16:creationId xmlns:a16="http://schemas.microsoft.com/office/drawing/2014/main" id="{BA55E98F-EC6B-80EA-F31A-84B3A3996540}"/>
              </a:ext>
            </a:extLst>
          </p:cNvPr>
          <p:cNvSpPr/>
          <p:nvPr/>
        </p:nvSpPr>
        <p:spPr>
          <a:xfrm flipH="1">
            <a:off x="32442156" y="5000108"/>
            <a:ext cx="11460162" cy="27118192"/>
          </a:xfrm>
          <a:prstGeom prst="round1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Single Corner Rounded 19">
            <a:extLst>
              <a:ext uri="{FF2B5EF4-FFF2-40B4-BE49-F238E27FC236}">
                <a16:creationId xmlns:a16="http://schemas.microsoft.com/office/drawing/2014/main" id="{6774B9B4-331A-720E-B0F4-2DE90A07C951}"/>
              </a:ext>
            </a:extLst>
          </p:cNvPr>
          <p:cNvSpPr/>
          <p:nvPr/>
        </p:nvSpPr>
        <p:spPr>
          <a:xfrm>
            <a:off x="0" y="5000109"/>
            <a:ext cx="11460162" cy="27118191"/>
          </a:xfrm>
          <a:prstGeom prst="round1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7039B15A-A5D0-CCF3-5253-13C72B1D5BE0}"/>
              </a:ext>
            </a:extLst>
          </p:cNvPr>
          <p:cNvSpPr>
            <a:spLocks noGrp="1"/>
          </p:cNvSpPr>
          <p:nvPr>
            <p:ph type="body" sz="quarter" idx="10"/>
          </p:nvPr>
        </p:nvSpPr>
        <p:spPr>
          <a:xfrm>
            <a:off x="459674" y="5829842"/>
            <a:ext cx="10056813" cy="21513560"/>
          </a:xfrm>
        </p:spPr>
        <p:txBody>
          <a:bodyPr/>
          <a:lstStyle/>
          <a:p>
            <a:r>
              <a:rPr lang="en-US" sz="4000" b="1" u="sng" dirty="0"/>
              <a:t>Abstract</a:t>
            </a:r>
          </a:p>
          <a:p>
            <a:r>
              <a:rPr lang="en-US" sz="4000" dirty="0"/>
              <a:t>This project develops a predictive model for total labor hours given operational and sales variables from a Kroger grocery store. </a:t>
            </a:r>
          </a:p>
          <a:p>
            <a:endParaRPr lang="en-US" sz="4000" dirty="0"/>
          </a:p>
          <a:p>
            <a:r>
              <a:rPr lang="en-US" sz="4000" dirty="0"/>
              <a:t>The results are comparing importance of these variables, specifically, different store departments, and their influence on total weekly hours worked in the store. Using this model and its future improvements hopefully can provide insight into productive labor-planning. </a:t>
            </a:r>
          </a:p>
          <a:p>
            <a:endParaRPr lang="en-US" sz="4000" b="1" u="sng" dirty="0"/>
          </a:p>
          <a:p>
            <a:endParaRPr lang="en-US" sz="4000" b="1" u="sng" dirty="0"/>
          </a:p>
          <a:p>
            <a:endParaRPr lang="en-US" sz="4000" b="1" u="sng" dirty="0"/>
          </a:p>
          <a:p>
            <a:endParaRPr lang="en-US" sz="4000" b="1" u="sng" dirty="0"/>
          </a:p>
          <a:p>
            <a:endParaRPr lang="en-US" sz="4000" b="1" u="sng" dirty="0"/>
          </a:p>
          <a:p>
            <a:endParaRPr lang="en-US" sz="4000" b="1" u="sng" dirty="0"/>
          </a:p>
          <a:p>
            <a:endParaRPr lang="en-US" sz="4000" b="1" u="sng" dirty="0"/>
          </a:p>
          <a:p>
            <a:endParaRPr lang="en-US" sz="4000" b="1" u="sng" dirty="0"/>
          </a:p>
          <a:p>
            <a:endParaRPr lang="en-US" sz="4000" b="1" u="sng" dirty="0"/>
          </a:p>
          <a:p>
            <a:r>
              <a:rPr lang="en-US" sz="4000" b="1" u="sng" dirty="0"/>
              <a:t>Introduction</a:t>
            </a:r>
          </a:p>
          <a:p>
            <a:r>
              <a:rPr lang="en-US" sz="4000" dirty="0"/>
              <a:t>For large grocers like Kroger, it is critical to understand the relationships acting within their operations to best utilize resources for maximizing routine efficiency. </a:t>
            </a:r>
          </a:p>
          <a:p>
            <a:endParaRPr lang="en-US" sz="4000" b="1" dirty="0"/>
          </a:p>
          <a:p>
            <a:endParaRPr lang="en-US" sz="4000" b="1" dirty="0"/>
          </a:p>
        </p:txBody>
      </p:sp>
      <p:sp>
        <p:nvSpPr>
          <p:cNvPr id="3" name="Text Placeholder 2">
            <a:extLst>
              <a:ext uri="{FF2B5EF4-FFF2-40B4-BE49-F238E27FC236}">
                <a16:creationId xmlns:a16="http://schemas.microsoft.com/office/drawing/2014/main" id="{ABF601BF-2A5B-5C56-BF98-D57CC5FA7615}"/>
              </a:ext>
            </a:extLst>
          </p:cNvPr>
          <p:cNvSpPr>
            <a:spLocks noGrp="1"/>
          </p:cNvSpPr>
          <p:nvPr>
            <p:ph type="body" sz="quarter" idx="11"/>
          </p:nvPr>
        </p:nvSpPr>
        <p:spPr>
          <a:xfrm>
            <a:off x="477827" y="5000109"/>
            <a:ext cx="10048875" cy="923322"/>
          </a:xfrm>
        </p:spPr>
        <p:txBody>
          <a:bodyPr/>
          <a:lstStyle/>
          <a:p>
            <a:r>
              <a:rPr lang="en-US" sz="4800" dirty="0"/>
              <a:t>Abstract and Introduction</a:t>
            </a:r>
          </a:p>
        </p:txBody>
      </p:sp>
      <p:sp>
        <p:nvSpPr>
          <p:cNvPr id="4" name="Text Placeholder 3">
            <a:extLst>
              <a:ext uri="{FF2B5EF4-FFF2-40B4-BE49-F238E27FC236}">
                <a16:creationId xmlns:a16="http://schemas.microsoft.com/office/drawing/2014/main" id="{2FA128F3-6A57-DD54-BC55-ABC7987AB417}"/>
              </a:ext>
            </a:extLst>
          </p:cNvPr>
          <p:cNvSpPr>
            <a:spLocks noGrp="1"/>
          </p:cNvSpPr>
          <p:nvPr>
            <p:ph type="body" sz="quarter" idx="20"/>
          </p:nvPr>
        </p:nvSpPr>
        <p:spPr>
          <a:xfrm>
            <a:off x="477828" y="26736493"/>
            <a:ext cx="10050462" cy="923322"/>
          </a:xfrm>
        </p:spPr>
        <p:txBody>
          <a:bodyPr/>
          <a:lstStyle/>
          <a:p>
            <a:r>
              <a:rPr lang="en-US" sz="4800" dirty="0"/>
              <a:t>Objectives</a:t>
            </a:r>
          </a:p>
        </p:txBody>
      </p:sp>
      <p:sp>
        <p:nvSpPr>
          <p:cNvPr id="5" name="Text Placeholder 4">
            <a:extLst>
              <a:ext uri="{FF2B5EF4-FFF2-40B4-BE49-F238E27FC236}">
                <a16:creationId xmlns:a16="http://schemas.microsoft.com/office/drawing/2014/main" id="{7E17A497-46C1-B833-4D36-ADCA71D86349}"/>
              </a:ext>
            </a:extLst>
          </p:cNvPr>
          <p:cNvSpPr>
            <a:spLocks noGrp="1"/>
          </p:cNvSpPr>
          <p:nvPr>
            <p:ph type="body" sz="quarter" idx="21"/>
          </p:nvPr>
        </p:nvSpPr>
        <p:spPr>
          <a:xfrm>
            <a:off x="11460161" y="5829841"/>
            <a:ext cx="10048874" cy="12895816"/>
          </a:xfrm>
        </p:spPr>
        <p:txBody>
          <a:bodyPr/>
          <a:lstStyle/>
          <a:p>
            <a:r>
              <a:rPr lang="en-US" sz="4000" b="1" u="sng" dirty="0"/>
              <a:t>Materials</a:t>
            </a:r>
          </a:p>
          <a:p>
            <a:r>
              <a:rPr lang="en-US" sz="4000" dirty="0"/>
              <a:t>Materials included Excel for preprocessing, and Python for exploratory data analysis, model building, and interpretation. The time series data for this project was sourced from a Kroger grocery store in Louisville, Kentucky.</a:t>
            </a:r>
          </a:p>
          <a:p>
            <a:r>
              <a:rPr lang="en-US" sz="4000" b="1" u="sng" dirty="0"/>
              <a:t>Methods</a:t>
            </a:r>
          </a:p>
          <a:p>
            <a:pPr marL="571500" indent="-571500">
              <a:buFont typeface="Wingdings" panose="05000000000000000000" pitchFamily="2" charset="2"/>
              <a:buChar char="§"/>
            </a:pPr>
            <a:r>
              <a:rPr lang="en-US" sz="4000" dirty="0"/>
              <a:t>Splitting the data into two pieces for the Random Forest model to train and test on, one with forecasted fixed and variable labor hours, and one without. </a:t>
            </a:r>
          </a:p>
          <a:p>
            <a:pPr marL="571500" indent="-571500">
              <a:buFont typeface="Wingdings" panose="05000000000000000000" pitchFamily="2" charset="2"/>
              <a:buChar char="§"/>
            </a:pPr>
            <a:r>
              <a:rPr lang="en-US" sz="4000" dirty="0"/>
              <a:t>Using statistical measures to gauge the success of the model and differences in outputs.</a:t>
            </a:r>
          </a:p>
          <a:p>
            <a:pPr marL="571500" indent="-571500">
              <a:buFont typeface="Arial" panose="020B0604020202020204" pitchFamily="34" charset="0"/>
              <a:buChar char="•"/>
            </a:pPr>
            <a:endParaRPr lang="en-US" sz="4000" dirty="0"/>
          </a:p>
          <a:p>
            <a:endParaRPr lang="en-US" sz="4000" dirty="0"/>
          </a:p>
        </p:txBody>
      </p:sp>
      <p:sp>
        <p:nvSpPr>
          <p:cNvPr id="6" name="Text Placeholder 5">
            <a:extLst>
              <a:ext uri="{FF2B5EF4-FFF2-40B4-BE49-F238E27FC236}">
                <a16:creationId xmlns:a16="http://schemas.microsoft.com/office/drawing/2014/main" id="{6585B3EA-B18E-7FC2-B2CD-2D7E02CF97EB}"/>
              </a:ext>
            </a:extLst>
          </p:cNvPr>
          <p:cNvSpPr>
            <a:spLocks noGrp="1"/>
          </p:cNvSpPr>
          <p:nvPr>
            <p:ph type="body" sz="quarter" idx="22"/>
          </p:nvPr>
        </p:nvSpPr>
        <p:spPr>
          <a:xfrm>
            <a:off x="11460162" y="5000109"/>
            <a:ext cx="10048875" cy="923322"/>
          </a:xfrm>
        </p:spPr>
        <p:txBody>
          <a:bodyPr/>
          <a:lstStyle/>
          <a:p>
            <a:r>
              <a:rPr lang="en-US" sz="4800" dirty="0"/>
              <a:t>Materials and Methods</a:t>
            </a:r>
          </a:p>
        </p:txBody>
      </p:sp>
      <p:sp>
        <p:nvSpPr>
          <p:cNvPr id="7" name="Text Placeholder 6">
            <a:extLst>
              <a:ext uri="{FF2B5EF4-FFF2-40B4-BE49-F238E27FC236}">
                <a16:creationId xmlns:a16="http://schemas.microsoft.com/office/drawing/2014/main" id="{4F5BE437-9F0D-82A7-FBFB-D2DBD5108729}"/>
              </a:ext>
            </a:extLst>
          </p:cNvPr>
          <p:cNvSpPr>
            <a:spLocks noGrp="1"/>
          </p:cNvSpPr>
          <p:nvPr>
            <p:ph type="body" sz="quarter" idx="23"/>
          </p:nvPr>
        </p:nvSpPr>
        <p:spPr>
          <a:xfrm>
            <a:off x="21907523" y="26264521"/>
            <a:ext cx="10048874" cy="7602059"/>
          </a:xfrm>
        </p:spPr>
        <p:txBody>
          <a:bodyPr/>
          <a:lstStyle/>
          <a:p>
            <a:pPr marL="571500" indent="-571500">
              <a:buFont typeface="Wingdings" panose="05000000000000000000" pitchFamily="2" charset="2"/>
              <a:buChar char="§"/>
            </a:pPr>
            <a:r>
              <a:rPr lang="en-US" sz="4000" dirty="0"/>
              <a:t>Model 1 infers that planned labor drives total hours, while model 2 shows productivity determines hours.  </a:t>
            </a:r>
          </a:p>
          <a:p>
            <a:pPr marL="571500" indent="-571500">
              <a:buFont typeface="Wingdings" panose="05000000000000000000" pitchFamily="2" charset="2"/>
              <a:buChar char="§"/>
            </a:pPr>
            <a:r>
              <a:rPr lang="en-US" sz="4000" dirty="0"/>
              <a:t>Model 1 depends on preexisting planning from forecasted hours, while model 2 relies on department sales, even when those departments do not generate the greatest number of sales. </a:t>
            </a:r>
          </a:p>
          <a:p>
            <a:endParaRPr lang="en-US" sz="4000" dirty="0"/>
          </a:p>
          <a:p>
            <a:endParaRPr lang="en-US" sz="4000" dirty="0"/>
          </a:p>
        </p:txBody>
      </p:sp>
      <p:sp>
        <p:nvSpPr>
          <p:cNvPr id="8" name="Text Placeholder 7">
            <a:extLst>
              <a:ext uri="{FF2B5EF4-FFF2-40B4-BE49-F238E27FC236}">
                <a16:creationId xmlns:a16="http://schemas.microsoft.com/office/drawing/2014/main" id="{194151B7-6ED8-F2C6-FE53-92BB5AE7F145}"/>
              </a:ext>
            </a:extLst>
          </p:cNvPr>
          <p:cNvSpPr>
            <a:spLocks noGrp="1"/>
          </p:cNvSpPr>
          <p:nvPr>
            <p:ph type="body" sz="quarter" idx="24"/>
          </p:nvPr>
        </p:nvSpPr>
        <p:spPr>
          <a:xfrm>
            <a:off x="11731243" y="25312806"/>
            <a:ext cx="10058400" cy="923322"/>
          </a:xfrm>
        </p:spPr>
        <p:txBody>
          <a:bodyPr/>
          <a:lstStyle/>
          <a:p>
            <a:r>
              <a:rPr lang="en-US" sz="4800" dirty="0"/>
              <a:t>Results</a:t>
            </a:r>
          </a:p>
        </p:txBody>
      </p:sp>
      <p:sp>
        <p:nvSpPr>
          <p:cNvPr id="9" name="Text Placeholder 8">
            <a:extLst>
              <a:ext uri="{FF2B5EF4-FFF2-40B4-BE49-F238E27FC236}">
                <a16:creationId xmlns:a16="http://schemas.microsoft.com/office/drawing/2014/main" id="{109607D9-8986-46BB-4981-8DFFD1929625}"/>
              </a:ext>
            </a:extLst>
          </p:cNvPr>
          <p:cNvSpPr>
            <a:spLocks noGrp="1"/>
          </p:cNvSpPr>
          <p:nvPr>
            <p:ph type="body" sz="quarter" idx="25"/>
          </p:nvPr>
        </p:nvSpPr>
        <p:spPr>
          <a:xfrm>
            <a:off x="33366355" y="5000108"/>
            <a:ext cx="10047018" cy="923322"/>
          </a:xfrm>
        </p:spPr>
        <p:txBody>
          <a:bodyPr/>
          <a:lstStyle/>
          <a:p>
            <a:r>
              <a:rPr lang="en-US" sz="4800" dirty="0"/>
              <a:t>Future Work</a:t>
            </a:r>
          </a:p>
        </p:txBody>
      </p:sp>
      <p:sp>
        <p:nvSpPr>
          <p:cNvPr id="10" name="Text Placeholder 9">
            <a:extLst>
              <a:ext uri="{FF2B5EF4-FFF2-40B4-BE49-F238E27FC236}">
                <a16:creationId xmlns:a16="http://schemas.microsoft.com/office/drawing/2014/main" id="{BD8D252B-839A-3EC0-1EEA-A62A153F85EC}"/>
              </a:ext>
            </a:extLst>
          </p:cNvPr>
          <p:cNvSpPr>
            <a:spLocks noGrp="1"/>
          </p:cNvSpPr>
          <p:nvPr>
            <p:ph type="body" sz="quarter" idx="26"/>
          </p:nvPr>
        </p:nvSpPr>
        <p:spPr>
          <a:xfrm>
            <a:off x="33390292" y="5829841"/>
            <a:ext cx="10047018" cy="8217612"/>
          </a:xfrm>
        </p:spPr>
        <p:txBody>
          <a:bodyPr/>
          <a:lstStyle/>
          <a:p>
            <a:pPr marL="571500" indent="-571500">
              <a:buFont typeface="Wingdings" panose="05000000000000000000" pitchFamily="2" charset="2"/>
              <a:buChar char="§"/>
            </a:pPr>
            <a:r>
              <a:rPr lang="en-US" sz="4000" dirty="0"/>
              <a:t>My aim to refining this project is exploring deeper into the relationships different departments may have on other aspects of </a:t>
            </a:r>
            <a:r>
              <a:rPr lang="en-US" sz="4000" dirty="0" err="1"/>
              <a:t>Krogering</a:t>
            </a:r>
            <a:r>
              <a:rPr lang="en-US" sz="4000" dirty="0"/>
              <a:t>. </a:t>
            </a:r>
          </a:p>
          <a:p>
            <a:pPr marL="571500" indent="-571500">
              <a:buFont typeface="Wingdings" panose="05000000000000000000" pitchFamily="2" charset="2"/>
              <a:buChar char="§"/>
            </a:pPr>
            <a:r>
              <a:rPr lang="en-US" sz="4000" dirty="0"/>
              <a:t>Are overtime hours worked influenced by change in fixed hours or sales? </a:t>
            </a:r>
          </a:p>
          <a:p>
            <a:pPr marL="571500" indent="-571500">
              <a:buFont typeface="Wingdings" panose="05000000000000000000" pitchFamily="2" charset="2"/>
              <a:buChar char="§"/>
            </a:pPr>
            <a:r>
              <a:rPr lang="en-US" sz="4000" dirty="0"/>
              <a:t>Are there factors significant in changing sales through self-checkout versus a checklane?</a:t>
            </a:r>
          </a:p>
          <a:p>
            <a:endParaRPr lang="en-US" sz="4000" dirty="0"/>
          </a:p>
        </p:txBody>
      </p:sp>
      <p:sp>
        <p:nvSpPr>
          <p:cNvPr id="11" name="Text Placeholder 10">
            <a:extLst>
              <a:ext uri="{FF2B5EF4-FFF2-40B4-BE49-F238E27FC236}">
                <a16:creationId xmlns:a16="http://schemas.microsoft.com/office/drawing/2014/main" id="{13725BF2-9AE2-7633-0FAE-711AAE057EFC}"/>
              </a:ext>
            </a:extLst>
          </p:cNvPr>
          <p:cNvSpPr>
            <a:spLocks noGrp="1"/>
          </p:cNvSpPr>
          <p:nvPr>
            <p:ph type="body" sz="quarter" idx="27"/>
          </p:nvPr>
        </p:nvSpPr>
        <p:spPr>
          <a:xfrm>
            <a:off x="33401676" y="17215670"/>
            <a:ext cx="10047018" cy="923322"/>
          </a:xfrm>
        </p:spPr>
        <p:txBody>
          <a:bodyPr/>
          <a:lstStyle/>
          <a:p>
            <a:r>
              <a:rPr lang="en-US" sz="4800" dirty="0"/>
              <a:t>References</a:t>
            </a:r>
          </a:p>
        </p:txBody>
      </p:sp>
      <p:sp>
        <p:nvSpPr>
          <p:cNvPr id="12" name="Text Placeholder 11">
            <a:extLst>
              <a:ext uri="{FF2B5EF4-FFF2-40B4-BE49-F238E27FC236}">
                <a16:creationId xmlns:a16="http://schemas.microsoft.com/office/drawing/2014/main" id="{14C41E60-197E-8E8D-43FF-35936D78FF38}"/>
              </a:ext>
            </a:extLst>
          </p:cNvPr>
          <p:cNvSpPr>
            <a:spLocks noGrp="1"/>
          </p:cNvSpPr>
          <p:nvPr>
            <p:ph type="body" sz="quarter" idx="28"/>
          </p:nvPr>
        </p:nvSpPr>
        <p:spPr>
          <a:xfrm>
            <a:off x="33390292" y="18002188"/>
            <a:ext cx="10052050" cy="5681533"/>
          </a:xfrm>
        </p:spPr>
        <p:txBody>
          <a:bodyPr/>
          <a:lstStyle/>
          <a:p>
            <a:r>
              <a:rPr lang="en-US" sz="3200" dirty="0"/>
              <a:t>FMI. </a:t>
            </a:r>
            <a:r>
              <a:rPr lang="en-US" sz="3200" i="1" dirty="0"/>
              <a:t>Food industry facts</a:t>
            </a:r>
            <a:r>
              <a:rPr lang="en-US" sz="3200" dirty="0"/>
              <a:t>. </a:t>
            </a:r>
            <a:r>
              <a:rPr lang="en-US" sz="3200" dirty="0">
                <a:hlinkClick r:id="rId3"/>
              </a:rPr>
              <a:t>Food industry facts</a:t>
            </a:r>
            <a:endParaRPr lang="en-US" sz="3200" dirty="0"/>
          </a:p>
          <a:p>
            <a:r>
              <a:rPr lang="en-US" sz="3200" i="1" dirty="0"/>
              <a:t>Pedregosa, F., </a:t>
            </a:r>
            <a:r>
              <a:rPr lang="en-US" sz="3200" i="1" dirty="0" err="1"/>
              <a:t>Varoquaux</a:t>
            </a:r>
            <a:r>
              <a:rPr lang="en-US" sz="3200" i="1" dirty="0"/>
              <a:t>, G., et al. </a:t>
            </a:r>
            <a:r>
              <a:rPr lang="en-US" sz="3200" i="1" dirty="0" err="1"/>
              <a:t>RandomForestRegressor</a:t>
            </a:r>
            <a:r>
              <a:rPr lang="en-US" sz="3200" dirty="0"/>
              <a:t>. </a:t>
            </a:r>
            <a:r>
              <a:rPr lang="en-US" sz="3200" dirty="0">
                <a:hlinkClick r:id="rId4"/>
              </a:rPr>
              <a:t>Scikit-learn documentation</a:t>
            </a:r>
            <a:endParaRPr lang="en-US" sz="3200" dirty="0"/>
          </a:p>
          <a:p>
            <a:r>
              <a:rPr lang="en-US" sz="3200" dirty="0"/>
              <a:t>Wikipedia contributors. (n.d.). </a:t>
            </a:r>
            <a:r>
              <a:rPr lang="en-US" sz="3200" i="1" dirty="0"/>
              <a:t>Decision tree learning</a:t>
            </a:r>
            <a:r>
              <a:rPr lang="en-US" sz="3200" dirty="0"/>
              <a:t>. </a:t>
            </a:r>
            <a:r>
              <a:rPr lang="en-US" sz="3200" dirty="0">
                <a:hlinkClick r:id="rId5"/>
              </a:rPr>
              <a:t>https://en.wikipedia.org/wiki/Decision_tree_learning</a:t>
            </a:r>
            <a:endParaRPr lang="en-US" sz="3200" dirty="0"/>
          </a:p>
          <a:p>
            <a:r>
              <a:rPr lang="en-US" sz="3200" dirty="0"/>
              <a:t>Software and Libraries: Matplotlib, </a:t>
            </a:r>
            <a:r>
              <a:rPr lang="en-US" sz="3200" dirty="0" err="1"/>
              <a:t>Numpy</a:t>
            </a:r>
            <a:r>
              <a:rPr lang="en-US" sz="3200" dirty="0"/>
              <a:t>, Open AI Chat GPT, Pandas, Scikit-learn, Seaborn.</a:t>
            </a:r>
          </a:p>
        </p:txBody>
      </p:sp>
      <p:sp>
        <p:nvSpPr>
          <p:cNvPr id="13" name="Text Placeholder 12">
            <a:extLst>
              <a:ext uri="{FF2B5EF4-FFF2-40B4-BE49-F238E27FC236}">
                <a16:creationId xmlns:a16="http://schemas.microsoft.com/office/drawing/2014/main" id="{0F6D87B7-C12A-12F9-A946-B5E4656EE02D}"/>
              </a:ext>
            </a:extLst>
          </p:cNvPr>
          <p:cNvSpPr>
            <a:spLocks noGrp="1"/>
          </p:cNvSpPr>
          <p:nvPr>
            <p:ph type="body" sz="quarter" idx="29"/>
          </p:nvPr>
        </p:nvSpPr>
        <p:spPr>
          <a:xfrm>
            <a:off x="33390292" y="24669100"/>
            <a:ext cx="10047018" cy="923322"/>
          </a:xfrm>
        </p:spPr>
        <p:txBody>
          <a:bodyPr/>
          <a:lstStyle/>
          <a:p>
            <a:r>
              <a:rPr lang="en-US" sz="4800" dirty="0"/>
              <a:t>Contact and Acknowledgements</a:t>
            </a:r>
          </a:p>
        </p:txBody>
      </p:sp>
      <p:sp>
        <p:nvSpPr>
          <p:cNvPr id="14" name="Text Placeholder 13">
            <a:extLst>
              <a:ext uri="{FF2B5EF4-FFF2-40B4-BE49-F238E27FC236}">
                <a16:creationId xmlns:a16="http://schemas.microsoft.com/office/drawing/2014/main" id="{09D2277D-0005-E662-D92E-2AF719434B25}"/>
              </a:ext>
            </a:extLst>
          </p:cNvPr>
          <p:cNvSpPr>
            <a:spLocks noGrp="1"/>
          </p:cNvSpPr>
          <p:nvPr>
            <p:ph type="body" sz="quarter" idx="30"/>
          </p:nvPr>
        </p:nvSpPr>
        <p:spPr>
          <a:xfrm>
            <a:off x="33390292" y="25556616"/>
            <a:ext cx="10052050" cy="6740285"/>
          </a:xfrm>
        </p:spPr>
        <p:txBody>
          <a:bodyPr/>
          <a:lstStyle/>
          <a:p>
            <a:r>
              <a:rPr lang="en-US" sz="4000" dirty="0"/>
              <a:t>Contact: </a:t>
            </a:r>
            <a:r>
              <a:rPr lang="en-US" sz="4000" dirty="0">
                <a:hlinkClick r:id="rId6"/>
              </a:rPr>
              <a:t>nmrdak@bellarmine.edu</a:t>
            </a:r>
            <a:endParaRPr lang="en-US" sz="4000" dirty="0"/>
          </a:p>
          <a:p>
            <a:r>
              <a:rPr lang="en-US" sz="4000" dirty="0"/>
              <a:t>Thank you to Dr. Karem and all my current and previous professors for your teachings, wisdom, and guidance. Thank you to Brad Maudlin and those at The Kroger Company who gave me the opportunity and support in completing this project. Thank you to my fiancée who has always pushed me to strive for success. </a:t>
            </a:r>
          </a:p>
        </p:txBody>
      </p:sp>
      <p:sp>
        <p:nvSpPr>
          <p:cNvPr id="15" name="Text Placeholder 14">
            <a:extLst>
              <a:ext uri="{FF2B5EF4-FFF2-40B4-BE49-F238E27FC236}">
                <a16:creationId xmlns:a16="http://schemas.microsoft.com/office/drawing/2014/main" id="{AD1D784A-4141-28D6-4A5F-930A6B66176C}"/>
              </a:ext>
            </a:extLst>
          </p:cNvPr>
          <p:cNvSpPr>
            <a:spLocks noGrp="1"/>
          </p:cNvSpPr>
          <p:nvPr>
            <p:ph type="body" sz="quarter" idx="96"/>
          </p:nvPr>
        </p:nvSpPr>
        <p:spPr>
          <a:xfrm>
            <a:off x="484179" y="27539703"/>
            <a:ext cx="10050462" cy="4154961"/>
          </a:xfrm>
        </p:spPr>
        <p:txBody>
          <a:bodyPr/>
          <a:lstStyle/>
          <a:p>
            <a:r>
              <a:rPr lang="en-US" sz="4000" dirty="0"/>
              <a:t>The aim of this project is to utilize grocery store data to understand the significance of department-specific operation and sales variables and their influence on total labor hours worked in a given week.  </a:t>
            </a:r>
          </a:p>
        </p:txBody>
      </p:sp>
      <p:sp>
        <p:nvSpPr>
          <p:cNvPr id="16" name="Text Placeholder 15">
            <a:extLst>
              <a:ext uri="{FF2B5EF4-FFF2-40B4-BE49-F238E27FC236}">
                <a16:creationId xmlns:a16="http://schemas.microsoft.com/office/drawing/2014/main" id="{0AD2DAE7-5392-D4F6-09BD-CBD3734582B2}"/>
              </a:ext>
            </a:extLst>
          </p:cNvPr>
          <p:cNvSpPr>
            <a:spLocks noGrp="1"/>
          </p:cNvSpPr>
          <p:nvPr>
            <p:ph type="body" sz="quarter" idx="150"/>
          </p:nvPr>
        </p:nvSpPr>
        <p:spPr>
          <a:xfrm>
            <a:off x="5932593" y="2505788"/>
            <a:ext cx="31998968" cy="923330"/>
          </a:xfrm>
        </p:spPr>
        <p:txBody>
          <a:bodyPr/>
          <a:lstStyle/>
          <a:p>
            <a:r>
              <a:rPr lang="en-US" sz="5400" dirty="0"/>
              <a:t>Bellarmine University: Data Science Program</a:t>
            </a:r>
          </a:p>
        </p:txBody>
      </p:sp>
      <p:sp>
        <p:nvSpPr>
          <p:cNvPr id="17" name="Text Placeholder 16">
            <a:extLst>
              <a:ext uri="{FF2B5EF4-FFF2-40B4-BE49-F238E27FC236}">
                <a16:creationId xmlns:a16="http://schemas.microsoft.com/office/drawing/2014/main" id="{AAE1D3A5-28F2-B404-D4C7-47EB988D933E}"/>
              </a:ext>
            </a:extLst>
          </p:cNvPr>
          <p:cNvSpPr>
            <a:spLocks noGrp="1"/>
          </p:cNvSpPr>
          <p:nvPr>
            <p:ph type="body" sz="quarter" idx="151"/>
          </p:nvPr>
        </p:nvSpPr>
        <p:spPr>
          <a:xfrm>
            <a:off x="5932593" y="1562745"/>
            <a:ext cx="31998968" cy="1323439"/>
          </a:xfrm>
        </p:spPr>
        <p:txBody>
          <a:bodyPr/>
          <a:lstStyle/>
          <a:p>
            <a:r>
              <a:rPr lang="en-US" sz="8000" dirty="0"/>
              <a:t>Nikola Mrdak</a:t>
            </a:r>
          </a:p>
        </p:txBody>
      </p:sp>
      <p:sp>
        <p:nvSpPr>
          <p:cNvPr id="18" name="Text Placeholder 17">
            <a:extLst>
              <a:ext uri="{FF2B5EF4-FFF2-40B4-BE49-F238E27FC236}">
                <a16:creationId xmlns:a16="http://schemas.microsoft.com/office/drawing/2014/main" id="{12CD0C50-C7FD-6047-8A81-F714D190A0F7}"/>
              </a:ext>
            </a:extLst>
          </p:cNvPr>
          <p:cNvSpPr>
            <a:spLocks noGrp="1"/>
          </p:cNvSpPr>
          <p:nvPr>
            <p:ph type="body" sz="quarter" idx="153"/>
          </p:nvPr>
        </p:nvSpPr>
        <p:spPr>
          <a:xfrm>
            <a:off x="477828" y="465813"/>
            <a:ext cx="42959482" cy="1569660"/>
          </a:xfrm>
        </p:spPr>
        <p:txBody>
          <a:bodyPr/>
          <a:lstStyle/>
          <a:p>
            <a:r>
              <a:rPr lang="en-US" sz="9600" dirty="0"/>
              <a:t>We’re </a:t>
            </a:r>
            <a:r>
              <a:rPr lang="en-US" sz="9600" dirty="0" err="1"/>
              <a:t>Krogering</a:t>
            </a:r>
            <a:r>
              <a:rPr lang="en-US" sz="9600" dirty="0"/>
              <a:t>: Predicting Grocery Store Total Labor Hours</a:t>
            </a:r>
          </a:p>
        </p:txBody>
      </p:sp>
      <p:pic>
        <p:nvPicPr>
          <p:cNvPr id="19" name="Picture 18" descr="Logo&#10;&#10;Description automatically generated">
            <a:extLst>
              <a:ext uri="{FF2B5EF4-FFF2-40B4-BE49-F238E27FC236}">
                <a16:creationId xmlns:a16="http://schemas.microsoft.com/office/drawing/2014/main" id="{043F444F-6CD9-E131-A92C-73AB70AA5672}"/>
              </a:ext>
            </a:extLst>
          </p:cNvPr>
          <p:cNvPicPr>
            <a:picLocks noChangeAspect="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0284596" y="12169"/>
            <a:ext cx="3164098" cy="3137948"/>
          </a:xfrm>
          <a:prstGeom prst="rect">
            <a:avLst/>
          </a:prstGeom>
        </p:spPr>
      </p:pic>
      <p:pic>
        <p:nvPicPr>
          <p:cNvPr id="23" name="Picture 22">
            <a:extLst>
              <a:ext uri="{FF2B5EF4-FFF2-40B4-BE49-F238E27FC236}">
                <a16:creationId xmlns:a16="http://schemas.microsoft.com/office/drawing/2014/main" id="{0E4F7070-FC7E-C3ED-070D-9A6839EE2FC3}"/>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730755" y="15196476"/>
            <a:ext cx="9557309" cy="5885032"/>
          </a:xfrm>
          <a:prstGeom prst="rect">
            <a:avLst/>
          </a:prstGeom>
          <a:ln>
            <a:solidFill>
              <a:schemeClr val="accent5">
                <a:lumMod val="50000"/>
              </a:schemeClr>
            </a:solidFill>
          </a:ln>
          <a:effectLst>
            <a:outerShdw blurRad="190500" algn="tl" rotWithShape="0">
              <a:srgbClr val="000000">
                <a:alpha val="70000"/>
              </a:srgbClr>
            </a:outerShdw>
          </a:effectLst>
        </p:spPr>
      </p:pic>
      <p:pic>
        <p:nvPicPr>
          <p:cNvPr id="1028" name="Picture 4">
            <a:extLst>
              <a:ext uri="{FF2B5EF4-FFF2-40B4-BE49-F238E27FC236}">
                <a16:creationId xmlns:a16="http://schemas.microsoft.com/office/drawing/2014/main" id="{3BC7C67D-9DA8-A4FB-65BF-5CEFA3D14F7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731243" y="18491910"/>
            <a:ext cx="9205787" cy="6141182"/>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2E9FAD03-2F8A-0028-F82B-6E1D04F8596E}"/>
              </a:ext>
            </a:extLst>
          </p:cNvPr>
          <p:cNvSpPr txBox="1"/>
          <p:nvPr/>
        </p:nvSpPr>
        <p:spPr>
          <a:xfrm>
            <a:off x="11731243" y="24633092"/>
            <a:ext cx="9099586" cy="477054"/>
          </a:xfrm>
          <a:prstGeom prst="rect">
            <a:avLst/>
          </a:prstGeom>
          <a:noFill/>
        </p:spPr>
        <p:txBody>
          <a:bodyPr wrap="square" rtlCol="0">
            <a:spAutoFit/>
          </a:bodyPr>
          <a:lstStyle/>
          <a:p>
            <a:r>
              <a:rPr lang="en-US" sz="2500" dirty="0">
                <a:latin typeface="Times New Roman" panose="02020603050405020304" pitchFamily="18" charset="0"/>
                <a:cs typeface="Times New Roman" panose="02020603050405020304" pitchFamily="18" charset="0"/>
              </a:rPr>
              <a:t>Figure 2: Pie chart, total sales by department as percentages, 2023-25. </a:t>
            </a:r>
          </a:p>
        </p:txBody>
      </p:sp>
      <p:sp>
        <p:nvSpPr>
          <p:cNvPr id="26" name="TextBox 25">
            <a:extLst>
              <a:ext uri="{FF2B5EF4-FFF2-40B4-BE49-F238E27FC236}">
                <a16:creationId xmlns:a16="http://schemas.microsoft.com/office/drawing/2014/main" id="{DF1DDF5B-4383-1AD1-D746-49D95A5C3E99}"/>
              </a:ext>
            </a:extLst>
          </p:cNvPr>
          <p:cNvSpPr txBox="1"/>
          <p:nvPr/>
        </p:nvSpPr>
        <p:spPr>
          <a:xfrm>
            <a:off x="730755" y="21158094"/>
            <a:ext cx="9099586" cy="477054"/>
          </a:xfrm>
          <a:prstGeom prst="rect">
            <a:avLst/>
          </a:prstGeom>
          <a:noFill/>
        </p:spPr>
        <p:txBody>
          <a:bodyPr wrap="square" rtlCol="0">
            <a:spAutoFit/>
          </a:bodyPr>
          <a:lstStyle/>
          <a:p>
            <a:r>
              <a:rPr lang="en-US" sz="2500" dirty="0">
                <a:latin typeface="Times New Roman" panose="02020603050405020304" pitchFamily="18" charset="0"/>
                <a:cs typeface="Times New Roman" panose="02020603050405020304" pitchFamily="18" charset="0"/>
              </a:rPr>
              <a:t>Figure 1: Let’s Go </a:t>
            </a:r>
            <a:r>
              <a:rPr lang="en-US" sz="2500" dirty="0" err="1">
                <a:latin typeface="Times New Roman" panose="02020603050405020304" pitchFamily="18" charset="0"/>
                <a:cs typeface="Times New Roman" panose="02020603050405020304" pitchFamily="18" charset="0"/>
              </a:rPr>
              <a:t>Krogering</a:t>
            </a:r>
            <a:r>
              <a:rPr lang="en-US" sz="2500" dirty="0">
                <a:latin typeface="Times New Roman" panose="02020603050405020304" pitchFamily="18" charset="0"/>
                <a:cs typeface="Times New Roman" panose="02020603050405020304" pitchFamily="18" charset="0"/>
              </a:rPr>
              <a:t> </a:t>
            </a:r>
          </a:p>
        </p:txBody>
      </p:sp>
      <p:sp>
        <p:nvSpPr>
          <p:cNvPr id="27" name="TextBox 26">
            <a:extLst>
              <a:ext uri="{FF2B5EF4-FFF2-40B4-BE49-F238E27FC236}">
                <a16:creationId xmlns:a16="http://schemas.microsoft.com/office/drawing/2014/main" id="{0D71B203-3503-62B7-2B66-154D7561B15A}"/>
              </a:ext>
            </a:extLst>
          </p:cNvPr>
          <p:cNvSpPr txBox="1"/>
          <p:nvPr/>
        </p:nvSpPr>
        <p:spPr>
          <a:xfrm>
            <a:off x="22092390" y="11898835"/>
            <a:ext cx="9389363" cy="861774"/>
          </a:xfrm>
          <a:prstGeom prst="rect">
            <a:avLst/>
          </a:prstGeom>
          <a:noFill/>
        </p:spPr>
        <p:txBody>
          <a:bodyPr wrap="square" rtlCol="0">
            <a:spAutoFit/>
          </a:bodyPr>
          <a:lstStyle/>
          <a:p>
            <a:r>
              <a:rPr lang="en-US" sz="2500" dirty="0">
                <a:latin typeface="Times New Roman" panose="02020603050405020304" pitchFamily="18" charset="0"/>
                <a:cs typeface="Times New Roman" panose="02020603050405020304" pitchFamily="18" charset="0"/>
              </a:rPr>
              <a:t>Figure 3: Scatter plot comparing reserved actual sales and predicted from model 2.  </a:t>
            </a:r>
          </a:p>
        </p:txBody>
      </p:sp>
      <p:sp>
        <p:nvSpPr>
          <p:cNvPr id="22" name="Text Placeholder 8">
            <a:extLst>
              <a:ext uri="{FF2B5EF4-FFF2-40B4-BE49-F238E27FC236}">
                <a16:creationId xmlns:a16="http://schemas.microsoft.com/office/drawing/2014/main" id="{8CCDB454-C854-3DAE-92C2-EB66269111E8}"/>
              </a:ext>
            </a:extLst>
          </p:cNvPr>
          <p:cNvSpPr txBox="1">
            <a:spLocks/>
          </p:cNvSpPr>
          <p:nvPr/>
        </p:nvSpPr>
        <p:spPr>
          <a:xfrm>
            <a:off x="22092390" y="25312806"/>
            <a:ext cx="10047018" cy="923322"/>
          </a:xfrm>
          <a:prstGeom prst="rect">
            <a:avLst/>
          </a:prstGeom>
          <a:solidFill>
            <a:schemeClr val="accent5">
              <a:lumMod val="50000"/>
            </a:schemeClr>
          </a:solidFill>
        </p:spPr>
        <p:txBody>
          <a:bodyPr wrap="square" lIns="91436" tIns="91436" rIns="91436" bIns="91436" anchor="t" anchorCtr="0">
            <a:spAutoFit/>
          </a:bodyPr>
          <a:lstStyle>
            <a:lvl1pPr marL="0" indent="0" algn="ctr" defTabSz="4388900" rtl="0" eaLnBrk="1" latinLnBrk="0" hangingPunct="1">
              <a:spcBef>
                <a:spcPct val="20000"/>
              </a:spcBef>
              <a:buFont typeface="Arial" pitchFamily="34" charset="0"/>
              <a:buNone/>
              <a:defRPr sz="2800" b="1" u="none" kern="1200" baseline="0">
                <a:solidFill>
                  <a:schemeClr val="bg1"/>
                </a:solidFill>
                <a:latin typeface="Century Gothic" panose="020B0502020202020204" pitchFamily="34" charset="0"/>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4800" dirty="0"/>
              <a:t>Conclusions</a:t>
            </a:r>
          </a:p>
        </p:txBody>
      </p:sp>
      <p:pic>
        <p:nvPicPr>
          <p:cNvPr id="29" name="Picture 2">
            <a:extLst>
              <a:ext uri="{FF2B5EF4-FFF2-40B4-BE49-F238E27FC236}">
                <a16:creationId xmlns:a16="http://schemas.microsoft.com/office/drawing/2014/main" id="{9C227DD5-B856-16D0-A8F8-ECEA9F33A47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104762" y="4947183"/>
            <a:ext cx="9063462" cy="7066428"/>
          </a:xfrm>
          <a:prstGeom prst="rect">
            <a:avLst/>
          </a:prstGeom>
          <a:noFill/>
          <a:extLst>
            <a:ext uri="{909E8E84-426E-40DD-AFC4-6F175D3DCCD1}">
              <a14:hiddenFill xmlns:a14="http://schemas.microsoft.com/office/drawing/2010/main">
                <a:solidFill>
                  <a:srgbClr val="FFFFFF"/>
                </a:solidFill>
              </a14:hiddenFill>
            </a:ext>
          </a:extLst>
        </p:spPr>
      </p:pic>
      <p:sp>
        <p:nvSpPr>
          <p:cNvPr id="30" name="Text Placeholder 13">
            <a:extLst>
              <a:ext uri="{FF2B5EF4-FFF2-40B4-BE49-F238E27FC236}">
                <a16:creationId xmlns:a16="http://schemas.microsoft.com/office/drawing/2014/main" id="{CE7ACD04-5512-058F-E494-7067741F36FC}"/>
              </a:ext>
            </a:extLst>
          </p:cNvPr>
          <p:cNvSpPr txBox="1">
            <a:spLocks/>
          </p:cNvSpPr>
          <p:nvPr/>
        </p:nvSpPr>
        <p:spPr>
          <a:xfrm>
            <a:off x="11599494" y="26178115"/>
            <a:ext cx="10052050" cy="4770515"/>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1800" kern="1200">
                <a:solidFill>
                  <a:schemeClr val="accent5">
                    <a:lumMod val="50000"/>
                  </a:schemeClr>
                </a:solidFill>
                <a:latin typeface="Century Gothic" panose="020B0502020202020204" pitchFamily="34"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4000" u="sng" dirty="0"/>
              <a:t>Model 1: All Variables</a:t>
            </a:r>
          </a:p>
          <a:p>
            <a:pPr marL="571500" indent="-571500">
              <a:buFont typeface="Wingdings" panose="05000000000000000000" pitchFamily="2" charset="2"/>
              <a:buChar char="§"/>
            </a:pPr>
            <a:r>
              <a:rPr lang="en-US" sz="4000" dirty="0"/>
              <a:t>Mean Absolute Error: 122.59</a:t>
            </a:r>
          </a:p>
          <a:p>
            <a:pPr marL="571500" indent="-571500">
              <a:buFont typeface="Wingdings" panose="05000000000000000000" pitchFamily="2" charset="2"/>
              <a:buChar char="§"/>
            </a:pPr>
            <a:r>
              <a:rPr lang="en-US" sz="4000" dirty="0"/>
              <a:t>R2 Score: 0.37</a:t>
            </a:r>
          </a:p>
          <a:p>
            <a:r>
              <a:rPr lang="en-US" sz="4000" u="sng" dirty="0"/>
              <a:t>Model 2: Excluding Forecasted Hours</a:t>
            </a:r>
          </a:p>
          <a:p>
            <a:pPr marL="571500" indent="-571500">
              <a:buFont typeface="Wingdings" panose="05000000000000000000" pitchFamily="2" charset="2"/>
              <a:buChar char="§"/>
            </a:pPr>
            <a:r>
              <a:rPr lang="en-US" sz="4000" dirty="0"/>
              <a:t>Mean Absolute Error: 129.38</a:t>
            </a:r>
          </a:p>
          <a:p>
            <a:pPr marL="571500" indent="-571500">
              <a:buFont typeface="Wingdings" panose="05000000000000000000" pitchFamily="2" charset="2"/>
              <a:buChar char="§"/>
            </a:pPr>
            <a:r>
              <a:rPr lang="en-US" sz="4000" dirty="0"/>
              <a:t>R2 Score: 0.34</a:t>
            </a:r>
          </a:p>
        </p:txBody>
      </p:sp>
      <p:pic>
        <p:nvPicPr>
          <p:cNvPr id="1030" name="Picture 6">
            <a:extLst>
              <a:ext uri="{FF2B5EF4-FFF2-40B4-BE49-F238E27FC236}">
                <a16:creationId xmlns:a16="http://schemas.microsoft.com/office/drawing/2014/main" id="{259E621A-7A84-E13F-1F62-3CB468E6B0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146689" y="12941254"/>
            <a:ext cx="9657813" cy="5199510"/>
          </a:xfrm>
          <a:prstGeom prst="rect">
            <a:avLst/>
          </a:prstGeom>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8A5A3868-6436-7F5D-65EE-BAC7D7D057C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127814" y="19212381"/>
            <a:ext cx="9742337" cy="5245016"/>
          </a:xfrm>
          <a:prstGeom prst="rect">
            <a:avLst/>
          </a:prstGeom>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6B6D0C4E-F895-9243-1EE8-8FE6F5B13F0D}"/>
              </a:ext>
            </a:extLst>
          </p:cNvPr>
          <p:cNvSpPr txBox="1"/>
          <p:nvPr/>
        </p:nvSpPr>
        <p:spPr>
          <a:xfrm>
            <a:off x="21945600" y="24531345"/>
            <a:ext cx="9099586" cy="861774"/>
          </a:xfrm>
          <a:prstGeom prst="rect">
            <a:avLst/>
          </a:prstGeom>
          <a:noFill/>
        </p:spPr>
        <p:txBody>
          <a:bodyPr wrap="square" rtlCol="0">
            <a:spAutoFit/>
          </a:bodyPr>
          <a:lstStyle/>
          <a:p>
            <a:r>
              <a:rPr lang="en-US" sz="2500" dirty="0">
                <a:latin typeface="Times New Roman" panose="02020603050405020304" pitchFamily="18" charset="0"/>
                <a:cs typeface="Times New Roman" panose="02020603050405020304" pitchFamily="18" charset="0"/>
              </a:rPr>
              <a:t>Figure 5: Histogram of top five significant variables in model one, where .24 is Bakery.   </a:t>
            </a:r>
          </a:p>
        </p:txBody>
      </p:sp>
      <p:sp>
        <p:nvSpPr>
          <p:cNvPr id="33" name="TextBox 32">
            <a:extLst>
              <a:ext uri="{FF2B5EF4-FFF2-40B4-BE49-F238E27FC236}">
                <a16:creationId xmlns:a16="http://schemas.microsoft.com/office/drawing/2014/main" id="{63B84C1A-B74B-9CD2-0874-D6B5B99BEDF8}"/>
              </a:ext>
            </a:extLst>
          </p:cNvPr>
          <p:cNvSpPr txBox="1"/>
          <p:nvPr/>
        </p:nvSpPr>
        <p:spPr>
          <a:xfrm>
            <a:off x="22021613" y="18206644"/>
            <a:ext cx="9099586" cy="861774"/>
          </a:xfrm>
          <a:prstGeom prst="rect">
            <a:avLst/>
          </a:prstGeom>
          <a:noFill/>
        </p:spPr>
        <p:txBody>
          <a:bodyPr wrap="square" rtlCol="0">
            <a:spAutoFit/>
          </a:bodyPr>
          <a:lstStyle/>
          <a:p>
            <a:r>
              <a:rPr lang="en-US" sz="2500" dirty="0">
                <a:latin typeface="Times New Roman" panose="02020603050405020304" pitchFamily="18" charset="0"/>
                <a:cs typeface="Times New Roman" panose="02020603050405020304" pitchFamily="18" charset="0"/>
              </a:rPr>
              <a:t>Figure 4: Histogram of top five significant variables in model one, where .3 is Grocery, .24 is Bakery, and .16 is Floral. </a:t>
            </a:r>
          </a:p>
        </p:txBody>
      </p:sp>
      <p:pic>
        <p:nvPicPr>
          <p:cNvPr id="38" name="Picture 37" descr="Close-up of rows of produce in boxes: Roma tomatoes, string beans, jalapeños, plums">
            <a:extLst>
              <a:ext uri="{FF2B5EF4-FFF2-40B4-BE49-F238E27FC236}">
                <a16:creationId xmlns:a16="http://schemas.microsoft.com/office/drawing/2014/main" id="{CA742FBE-B570-0027-1756-A69D32E17EF7}"/>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4828630" y="13014078"/>
            <a:ext cx="7038015" cy="417533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58771719"/>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2974</TotalTime>
  <Words>591</Words>
  <Application>Microsoft Office PowerPoint</Application>
  <PresentationFormat>Custom</PresentationFormat>
  <Paragraphs>55</Paragraphs>
  <Slides>1</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vt:i4>
      </vt:variant>
    </vt:vector>
  </HeadingPairs>
  <TitlesOfParts>
    <vt:vector size="10" baseType="lpstr">
      <vt:lpstr>Arial</vt:lpstr>
      <vt:lpstr>Arial Black</vt:lpstr>
      <vt:lpstr>Calibri</vt:lpstr>
      <vt:lpstr>Century Gothic</vt:lpstr>
      <vt:lpstr>Times New Roman</vt:lpstr>
      <vt:lpstr>Trebuchet MS</vt:lpstr>
      <vt:lpstr>Wingdings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Nikola J. Mrdak</cp:lastModifiedBy>
  <cp:revision>77</cp:revision>
  <dcterms:created xsi:type="dcterms:W3CDTF">2012-02-03T19:11:35Z</dcterms:created>
  <dcterms:modified xsi:type="dcterms:W3CDTF">2026-03-19T04:01:03Z</dcterms:modified>
  <cp:category>Research poster templates</cp:category>
</cp:coreProperties>
</file>